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96" y="6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852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We are here to present our School Enrollment and Grading Management System. Students can create accounts and submit enrollment details. Administrators review requests, assign sections, publish schedules, and manage grades. I am [name], together with [group members], from [course and section].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connects a student portal to an administrator dashboard. Students submit information and track their status. The administrator controls review, section assignment, schedule announcements, grading, and settings.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student records manually can take time and make information harder to track. Section assignments and grades may become inconsistent when they are kept in separate files. Our objectives were to organize student records, manage sections, validate grades, and provide an administrator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create their own accounts and submit an enrollment form. The administrator reviews the request, assigns a section, manages student records and sections, publishes schedules, enters grades, and updates school settings.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role-specific browser dashboards, an Apps Script API that authenticates and validates each operation, and Google Sheets tables for accounts, enrollment requests, student records, sections, grades, settings, announcements, and activity logs.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spreadsheet contains separate tables for user accounts, enrollment requests, approved student records, school sections, grades, settings, announcements, and activity logs.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supports both Admin and Student sign-in. Students can create an account using the signup popup, then submit their enrollment details from the Student Portal.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creates an account, signs in, and submits a popup enrollment form. The form is sent to an admin review queue. Students can follow the status and see the assigned section once approved.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searches the request queue, reviews the submitted information, and either rejects or approves. Approval requires an active section assignment before the student record is created.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create a dated schedule announcement for one section. The student dashboard shows only announcements matching the approved student section. Section management shows an SVG loading indicator during save/archive, and Admin logout has a custom confirmation dialog.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card displays an SVG loading indicator and disables its actions while the server updates it. Admin logout uses a custom confirmation popup with a loading state after confirmation.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student-to-admin workflow, then show the admin grading page. The Admin signs in, reviews enrollment submissions, assigns a section, announces its schedule, and can separately manage grades and settings.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validates student and grade input, enforces account roles in the backend, archives sections that still have records, targets schedule announcements to a section, and gives a clear response when a write reply is delayed.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system provides a guided path from student enrollment submission to administrator approval, section assignment, schedule announcements, and grading. Future improvements could include printable reports, data export, backups, notifications, and a teacher portal. Thank you. We are ready for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B"/>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009187"/>
          </a:solidFill>
          <a:ln w="12700">
            <a:solidFill>
              <a:srgbClr val="009187">
                <a:alpha val="0"/>
              </a:srgbClr>
            </a:solidFill>
            <a:prstDash val="solid"/>
          </a:ln>
        </p:spPr>
      </p:sp>
      <p:sp>
        <p:nvSpPr>
          <p:cNvPr id="3" name="Text 1"/>
          <p:cNvSpPr/>
          <p:nvPr/>
        </p:nvSpPr>
        <p:spPr>
          <a:xfrm>
            <a:off x="749808" y="640080"/>
            <a:ext cx="5120640" cy="274320"/>
          </a:xfrm>
          <a:prstGeom prst="rect">
            <a:avLst/>
          </a:prstGeom>
          <a:noFill/>
          <a:ln/>
        </p:spPr>
        <p:txBody>
          <a:bodyPr wrap="square" lIns="0" tIns="0" rIns="0" bIns="0" rtlCol="0" anchor="ctr">
            <a:normAutofit/>
          </a:bodyPr>
          <a:lstStyle/>
          <a:p>
            <a:pPr marL="0" indent="0">
              <a:buNone/>
            </a:pPr>
            <a:r>
              <a:rPr lang="en-US" sz="1100" b="1" dirty="0">
                <a:solidFill>
                  <a:srgbClr val="75D7CA"/>
                </a:solidFill>
                <a:latin typeface="Aptos" pitchFamily="34" charset="0"/>
                <a:ea typeface="Aptos" pitchFamily="34" charset="-122"/>
                <a:cs typeface="Aptos" pitchFamily="34" charset="-120"/>
              </a:rPr>
              <a:t>PROJECT PRESENTATION</a:t>
            </a:r>
            <a:endParaRPr lang="en-US" sz="1100" dirty="0"/>
          </a:p>
        </p:txBody>
      </p:sp>
      <p:sp>
        <p:nvSpPr>
          <p:cNvPr id="4" name="Text 2"/>
          <p:cNvSpPr/>
          <p:nvPr/>
        </p:nvSpPr>
        <p:spPr>
          <a:xfrm>
            <a:off x="749808" y="1325880"/>
            <a:ext cx="6035040" cy="2084832"/>
          </a:xfrm>
          <a:prstGeom prst="rect">
            <a:avLst/>
          </a:prstGeom>
          <a:noFill/>
          <a:ln/>
        </p:spPr>
        <p:txBody>
          <a:bodyPr wrap="square" lIns="0" tIns="0" rIns="0" bIns="0" rtlCol="0" anchor="t">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School Enrollment</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and Grading</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Management System</a:t>
            </a:r>
            <a:endParaRPr lang="en-US" sz="3400" dirty="0"/>
          </a:p>
        </p:txBody>
      </p:sp>
      <p:sp>
        <p:nvSpPr>
          <p:cNvPr id="5" name="Text 3"/>
          <p:cNvSpPr/>
          <p:nvPr/>
        </p:nvSpPr>
        <p:spPr>
          <a:xfrm>
            <a:off x="768096" y="3703320"/>
            <a:ext cx="5486400" cy="868680"/>
          </a:xfrm>
          <a:prstGeom prst="rect">
            <a:avLst/>
          </a:prstGeom>
          <a:noFill/>
          <a:ln/>
        </p:spPr>
        <p:txBody>
          <a:bodyPr wrap="square" lIns="0" tIns="0" rIns="0" bIns="0" rtlCol="0" anchor="t">
            <a:normAutofit/>
          </a:bodyPr>
          <a:lstStyle/>
          <a:p>
            <a:pPr marL="0" indent="0">
              <a:buNone/>
            </a:pPr>
            <a:r>
              <a:rPr lang="en-US" sz="1600" dirty="0">
                <a:solidFill>
                  <a:srgbClr val="D9E7EC"/>
                </a:solidFill>
                <a:latin typeface="Aptos" pitchFamily="34" charset="0"/>
                <a:ea typeface="Aptos" pitchFamily="34" charset="-122"/>
                <a:cs typeface="Aptos" pitchFamily="34" charset="-120"/>
              </a:rPr>
              <a:t>A two-role school portal for student enrollment, admin approvals, sections, schedules, and grades</a:t>
            </a:r>
            <a:endParaRPr lang="en-US" sz="1600" dirty="0"/>
          </a:p>
        </p:txBody>
      </p:sp>
      <p:sp>
        <p:nvSpPr>
          <p:cNvPr id="6" name="Text 4"/>
          <p:cNvSpPr/>
          <p:nvPr/>
        </p:nvSpPr>
        <p:spPr>
          <a:xfrm>
            <a:off x="768096" y="5303520"/>
            <a:ext cx="5029200" cy="256032"/>
          </a:xfrm>
          <a:prstGeom prst="rect">
            <a:avLst/>
          </a:prstGeom>
          <a:noFill/>
          <a:ln/>
        </p:spPr>
        <p:txBody>
          <a:bodyPr wrap="square" lIns="0" tIns="0" rIns="0" bIns="0" rtlCol="0" anchor="ctr">
            <a:normAutofit/>
          </a:bodyPr>
          <a:lstStyle/>
          <a:p>
            <a:pPr marL="0" indent="0">
              <a:buNone/>
            </a:pPr>
            <a:r>
              <a:rPr lang="en-US" sz="1600" dirty="0">
                <a:solidFill>
                  <a:srgbClr val="FFFFFF"/>
                </a:solidFill>
                <a:latin typeface="Aptos" pitchFamily="34" charset="0"/>
                <a:ea typeface="Aptos" pitchFamily="34" charset="-122"/>
                <a:cs typeface="Aptos" pitchFamily="34" charset="-120"/>
              </a:rPr>
              <a:t>Presented by: Group 6 </a:t>
            </a:r>
            <a:endParaRPr lang="en-US" sz="1600" dirty="0"/>
          </a:p>
        </p:txBody>
      </p:sp>
      <p:sp>
        <p:nvSpPr>
          <p:cNvPr id="7" name="Text 5"/>
          <p:cNvSpPr/>
          <p:nvPr/>
        </p:nvSpPr>
        <p:spPr>
          <a:xfrm>
            <a:off x="768096" y="5669280"/>
            <a:ext cx="5760720" cy="256032"/>
          </a:xfrm>
          <a:prstGeom prst="rect">
            <a:avLst/>
          </a:prstGeom>
          <a:noFill/>
          <a:ln/>
        </p:spPr>
        <p:txBody>
          <a:bodyPr wrap="square" lIns="0" tIns="0" rIns="0" bIns="0" rtlCol="0" anchor="ctr">
            <a:normAutofit/>
          </a:bodyPr>
          <a:lstStyle/>
          <a:p>
            <a:pPr marL="0" indent="0">
              <a:buNone/>
            </a:pPr>
            <a:r>
              <a:rPr lang="en-US" sz="1400" dirty="0">
                <a:solidFill>
                  <a:srgbClr val="B1C6D0"/>
                </a:solidFill>
                <a:latin typeface="Aptos" pitchFamily="34" charset="0"/>
                <a:ea typeface="Aptos" pitchFamily="34" charset="-122"/>
                <a:cs typeface="Aptos" pitchFamily="34" charset="-120"/>
              </a:rPr>
              <a:t>[Course / Section]   |   [Instructor]   |   [Date]</a:t>
            </a:r>
            <a:endParaRPr lang="en-US" sz="1400" dirty="0"/>
          </a:p>
        </p:txBody>
      </p:sp>
      <p:sp>
        <p:nvSpPr>
          <p:cNvPr id="8" name="Shape 6"/>
          <p:cNvSpPr/>
          <p:nvPr/>
        </p:nvSpPr>
        <p:spPr>
          <a:xfrm>
            <a:off x="6003035" y="783772"/>
            <a:ext cx="6035039" cy="4885508"/>
          </a:xfrm>
          <a:prstGeom prst="roundRect">
            <a:avLst>
              <a:gd name="adj" fmla="val 2469"/>
            </a:avLst>
          </a:prstGeom>
          <a:solidFill>
            <a:srgbClr val="FFFFFC"/>
          </a:solidFill>
          <a:ln w="10160">
            <a:solidFill>
              <a:srgbClr val="D7DEDC"/>
            </a:solidFill>
            <a:prstDash val="solid"/>
          </a:ln>
        </p:spPr>
      </p:sp>
      <p:sp>
        <p:nvSpPr>
          <p:cNvPr id="10" name="Shape 7"/>
          <p:cNvSpPr/>
          <p:nvPr/>
        </p:nvSpPr>
        <p:spPr>
          <a:xfrm>
            <a:off x="8153123" y="5925312"/>
            <a:ext cx="1719072" cy="429768"/>
          </a:xfrm>
          <a:prstGeom prst="roundRect">
            <a:avLst>
              <a:gd name="adj" fmla="val 25806"/>
            </a:avLst>
          </a:prstGeom>
          <a:solidFill>
            <a:srgbClr val="009187"/>
          </a:solidFill>
          <a:ln w="12700">
            <a:solidFill>
              <a:srgbClr val="009187"/>
            </a:solidFill>
            <a:prstDash val="solid"/>
          </a:ln>
        </p:spPr>
      </p:sp>
      <p:sp>
        <p:nvSpPr>
          <p:cNvPr id="11" name="Text 8"/>
          <p:cNvSpPr/>
          <p:nvPr/>
        </p:nvSpPr>
        <p:spPr>
          <a:xfrm>
            <a:off x="8153123" y="5925312"/>
            <a:ext cx="1627632" cy="411480"/>
          </a:xfrm>
          <a:prstGeom prst="rect">
            <a:avLst/>
          </a:prstGeom>
          <a:noFill/>
          <a:ln/>
        </p:spPr>
        <p:txBody>
          <a:bodyPr wrap="square" lIns="0" tIns="0" rIns="0" bIns="0" rtlCol="0" anchor="ctr">
            <a:no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ADMIN DASHBOARD</a:t>
            </a:r>
            <a:endParaRPr lang="en-US" sz="1400" dirty="0"/>
          </a:p>
        </p:txBody>
      </p:sp>
      <p:pic>
        <p:nvPicPr>
          <p:cNvPr id="19" name="Picture 18">
            <a:extLst>
              <a:ext uri="{FF2B5EF4-FFF2-40B4-BE49-F238E27FC236}">
                <a16:creationId xmlns:a16="http://schemas.microsoft.com/office/drawing/2014/main" id="{6FD87BB7-907E-B276-5D6F-CAFDCB8ED8AA}"/>
              </a:ext>
            </a:extLst>
          </p:cNvPr>
          <p:cNvPicPr>
            <a:picLocks noChangeAspect="1"/>
          </p:cNvPicPr>
          <p:nvPr/>
        </p:nvPicPr>
        <p:blipFill>
          <a:blip r:embed="rId3"/>
          <a:stretch>
            <a:fillRect/>
          </a:stretch>
        </p:blipFill>
        <p:spPr>
          <a:xfrm>
            <a:off x="6096000" y="900684"/>
            <a:ext cx="5895185" cy="46588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01 / OVERVIEW</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One school system, two connected workflows</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Students submit enrollment; administrators review and manage school operations.</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658368" y="1874520"/>
            <a:ext cx="4389120" cy="274320"/>
          </a:xfrm>
          <a:prstGeom prst="rect">
            <a:avLst/>
          </a:prstGeom>
          <a:noFill/>
          <a:ln/>
        </p:spPr>
        <p:txBody>
          <a:bodyPr wrap="square" lIns="0" tIns="0" rIns="0" bIns="0" rtlCol="0" anchor="ctr">
            <a:normAutofit/>
          </a:bodyPr>
          <a:lstStyle/>
          <a:p>
            <a:pPr marL="0" indent="0">
              <a:buNone/>
            </a:pPr>
            <a:r>
              <a:rPr lang="en-US" sz="1100" b="1" dirty="0">
                <a:solidFill>
                  <a:srgbClr val="009187"/>
                </a:solidFill>
                <a:latin typeface="Aptos" pitchFamily="34" charset="0"/>
                <a:ea typeface="Aptos" pitchFamily="34" charset="-122"/>
                <a:cs typeface="Aptos" pitchFamily="34" charset="-120"/>
              </a:rPr>
              <a:t>STUDENT PORTAL</a:t>
            </a:r>
            <a:endParaRPr lang="en-US" sz="1100" dirty="0"/>
          </a:p>
        </p:txBody>
      </p:sp>
      <p:sp>
        <p:nvSpPr>
          <p:cNvPr id="9" name="Text 7"/>
          <p:cNvSpPr/>
          <p:nvPr/>
        </p:nvSpPr>
        <p:spPr>
          <a:xfrm>
            <a:off x="658368" y="2286000"/>
            <a:ext cx="5120640" cy="2194560"/>
          </a:xfrm>
          <a:prstGeom prst="rect">
            <a:avLst/>
          </a:prstGeom>
          <a:noFill/>
          <a:ln/>
        </p:spPr>
        <p:txBody>
          <a:bodyPr wrap="square" lIns="0" tIns="0" rIns="0" bIns="0" rtlCol="0" anchor="t">
            <a:normAutofit/>
          </a:bodyPr>
          <a:lstStyle/>
          <a:p>
            <a:pPr marL="0" indent="0">
              <a:buNone/>
            </a:pPr>
            <a:r>
              <a:rPr lang="en-US" sz="1800" dirty="0">
                <a:solidFill>
                  <a:srgbClr val="132537"/>
                </a:solidFill>
                <a:latin typeface="Aptos" pitchFamily="34" charset="0"/>
                <a:ea typeface="Aptos" pitchFamily="34" charset="-122"/>
                <a:cs typeface="Aptos" pitchFamily="34" charset="-120"/>
              </a:rPr>
              <a:t>Create an account</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Submit an enrollment form</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Track approval and assigned section</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View section-specific schedule announcements</a:t>
            </a:r>
            <a:endParaRPr lang="en-US" sz="1800" dirty="0"/>
          </a:p>
        </p:txBody>
      </p:sp>
      <p:sp>
        <p:nvSpPr>
          <p:cNvPr id="10" name="Shape 8"/>
          <p:cNvSpPr/>
          <p:nvPr/>
        </p:nvSpPr>
        <p:spPr>
          <a:xfrm>
            <a:off x="658368" y="4800600"/>
            <a:ext cx="5074920" cy="868680"/>
          </a:xfrm>
          <a:prstGeom prst="roundRect">
            <a:avLst>
              <a:gd name="adj" fmla="val 8421"/>
            </a:avLst>
          </a:prstGeom>
          <a:solidFill>
            <a:srgbClr val="FFFFFC"/>
          </a:solidFill>
          <a:ln w="10160">
            <a:solidFill>
              <a:srgbClr val="D7DEDC"/>
            </a:solidFill>
            <a:prstDash val="solid"/>
          </a:ln>
        </p:spPr>
      </p:sp>
      <p:sp>
        <p:nvSpPr>
          <p:cNvPr id="11" name="Text 9"/>
          <p:cNvSpPr/>
          <p:nvPr/>
        </p:nvSpPr>
        <p:spPr>
          <a:xfrm>
            <a:off x="896112" y="5010912"/>
            <a:ext cx="1828800" cy="228600"/>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PRIMARY USER</a:t>
            </a:r>
            <a:endParaRPr lang="en-US" sz="1000" dirty="0"/>
          </a:p>
        </p:txBody>
      </p:sp>
      <p:sp>
        <p:nvSpPr>
          <p:cNvPr id="12" name="Text 10"/>
          <p:cNvSpPr/>
          <p:nvPr/>
        </p:nvSpPr>
        <p:spPr>
          <a:xfrm>
            <a:off x="896112" y="5321808"/>
            <a:ext cx="4206240" cy="256032"/>
          </a:xfrm>
          <a:prstGeom prst="rect">
            <a:avLst/>
          </a:prstGeom>
          <a:noFill/>
          <a:ln/>
        </p:spPr>
        <p:txBody>
          <a:bodyPr wrap="square" lIns="0" tIns="0" rIns="0" bIns="0" rtlCol="0" anchor="ctr">
            <a:normAutofit/>
          </a:bodyPr>
          <a:lstStyle/>
          <a:p>
            <a:pPr marL="0" indent="0">
              <a:buNone/>
            </a:pPr>
            <a:r>
              <a:rPr lang="en-US" sz="1500" b="1" dirty="0">
                <a:solidFill>
                  <a:srgbClr val="132537"/>
                </a:solidFill>
                <a:latin typeface="Aptos" pitchFamily="34" charset="0"/>
                <a:ea typeface="Aptos" pitchFamily="34" charset="-122"/>
                <a:cs typeface="Aptos" pitchFamily="34" charset="-120"/>
              </a:rPr>
              <a:t>Students + Administrator / Registrar</a:t>
            </a:r>
            <a:endParaRPr lang="en-US" sz="1500" dirty="0"/>
          </a:p>
        </p:txBody>
      </p:sp>
      <p:sp>
        <p:nvSpPr>
          <p:cNvPr id="13" name="Shape 11"/>
          <p:cNvSpPr/>
          <p:nvPr/>
        </p:nvSpPr>
        <p:spPr>
          <a:xfrm>
            <a:off x="6501384" y="1303020"/>
            <a:ext cx="5690616" cy="4274820"/>
          </a:xfrm>
          <a:prstGeom prst="roundRect">
            <a:avLst>
              <a:gd name="adj" fmla="val 2292"/>
            </a:avLst>
          </a:prstGeom>
          <a:solidFill>
            <a:srgbClr val="FFFFFC"/>
          </a:solidFill>
          <a:ln w="10160">
            <a:solidFill>
              <a:srgbClr val="D7DEDC"/>
            </a:solidFill>
            <a:prstDash val="solid"/>
          </a:ln>
        </p:spPr>
      </p:sp>
      <p:pic>
        <p:nvPicPr>
          <p:cNvPr id="16" name="Picture 15">
            <a:extLst>
              <a:ext uri="{FF2B5EF4-FFF2-40B4-BE49-F238E27FC236}">
                <a16:creationId xmlns:a16="http://schemas.microsoft.com/office/drawing/2014/main" id="{B9ECC071-F166-69BB-0834-A9EFF8F3DA08}"/>
              </a:ext>
            </a:extLst>
          </p:cNvPr>
          <p:cNvPicPr>
            <a:picLocks noChangeAspect="1"/>
          </p:cNvPicPr>
          <p:nvPr/>
        </p:nvPicPr>
        <p:blipFill>
          <a:blip r:embed="rId3"/>
          <a:stretch>
            <a:fillRect/>
          </a:stretch>
        </p:blipFill>
        <p:spPr>
          <a:xfrm>
            <a:off x="6601968" y="1499615"/>
            <a:ext cx="5431536" cy="40741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02 / PURPOSE</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From manual records to an organized workflow</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The project focuses on accuracy, traceability, and simpler administration.</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74520"/>
            <a:ext cx="4800600" cy="3474720"/>
          </a:xfrm>
          <a:prstGeom prst="roundRect">
            <a:avLst>
              <a:gd name="adj" fmla="val 2105"/>
            </a:avLst>
          </a:prstGeom>
          <a:solidFill>
            <a:srgbClr val="FFFFFC"/>
          </a:solidFill>
          <a:ln w="10160">
            <a:solidFill>
              <a:srgbClr val="D7DEDC"/>
            </a:solidFill>
            <a:prstDash val="solid"/>
          </a:ln>
        </p:spPr>
      </p:sp>
      <p:sp>
        <p:nvSpPr>
          <p:cNvPr id="9" name="Shape 7"/>
          <p:cNvSpPr/>
          <p:nvPr/>
        </p:nvSpPr>
        <p:spPr>
          <a:xfrm>
            <a:off x="932688" y="2157984"/>
            <a:ext cx="1481328" cy="283464"/>
          </a:xfrm>
          <a:prstGeom prst="roundRect">
            <a:avLst>
              <a:gd name="adj" fmla="val 25806"/>
            </a:avLst>
          </a:prstGeom>
          <a:solidFill>
            <a:srgbClr val="D96952"/>
          </a:solidFill>
          <a:ln w="12700">
            <a:solidFill>
              <a:srgbClr val="D96952"/>
            </a:solidFill>
            <a:prstDash val="solid"/>
          </a:ln>
        </p:spPr>
      </p:sp>
      <p:sp>
        <p:nvSpPr>
          <p:cNvPr id="10" name="Text 8"/>
          <p:cNvSpPr/>
          <p:nvPr/>
        </p:nvSpPr>
        <p:spPr>
          <a:xfrm>
            <a:off x="978408" y="2171700"/>
            <a:ext cx="1389888"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THE PROBLEM</a:t>
            </a:r>
            <a:endParaRPr lang="en-US" sz="900" dirty="0"/>
          </a:p>
        </p:txBody>
      </p:sp>
      <p:sp>
        <p:nvSpPr>
          <p:cNvPr id="11" name="Text 9"/>
          <p:cNvSpPr/>
          <p:nvPr/>
        </p:nvSpPr>
        <p:spPr>
          <a:xfrm>
            <a:off x="932688" y="2788920"/>
            <a:ext cx="4160520" cy="2057400"/>
          </a:xfrm>
          <a:prstGeom prst="rect">
            <a:avLst/>
          </a:prstGeom>
          <a:noFill/>
          <a:ln/>
        </p:spPr>
        <p:txBody>
          <a:bodyPr wrap="square" lIns="0" tIns="0" rIns="0" bIns="0" rtlCol="0" anchor="t">
            <a:normAutofit/>
          </a:bodyPr>
          <a:lstStyle/>
          <a:p>
            <a:pPr marL="0" indent="0">
              <a:buNone/>
            </a:pPr>
            <a:r>
              <a:rPr lang="en-US" sz="2200" dirty="0">
                <a:solidFill>
                  <a:srgbClr val="132537"/>
                </a:solidFill>
                <a:latin typeface="Aptos" pitchFamily="34" charset="0"/>
                <a:ea typeface="Aptos" pitchFamily="34" charset="-122"/>
                <a:cs typeface="Aptos" pitchFamily="34" charset="-120"/>
              </a:rPr>
              <a:t>Manual records take time.</a:t>
            </a:r>
            <a:endParaRPr lang="en-US" sz="2200" dirty="0"/>
          </a:p>
          <a:p>
            <a:pPr marL="0" indent="0">
              <a:buNone/>
            </a:pPr>
            <a:r>
              <a:rPr lang="en-US" sz="2200" dirty="0">
                <a:solidFill>
                  <a:srgbClr val="132537"/>
                </a:solidFill>
                <a:latin typeface="Aptos" pitchFamily="34" charset="0"/>
                <a:ea typeface="Aptos" pitchFamily="34" charset="-122"/>
                <a:cs typeface="Aptos" pitchFamily="34" charset="-120"/>
              </a:rPr>
              <a:t>Information can be hard to track.</a:t>
            </a:r>
            <a:endParaRPr lang="en-US" sz="2200" dirty="0"/>
          </a:p>
          <a:p>
            <a:pPr marL="0" indent="0">
              <a:buNone/>
            </a:pPr>
            <a:r>
              <a:rPr lang="en-US" sz="2200" dirty="0">
                <a:solidFill>
                  <a:srgbClr val="132537"/>
                </a:solidFill>
                <a:latin typeface="Aptos" pitchFamily="34" charset="0"/>
                <a:ea typeface="Aptos" pitchFamily="34" charset="-122"/>
                <a:cs typeface="Aptos" pitchFamily="34" charset="-120"/>
              </a:rPr>
              <a:t>Grade entry can introduce errors.</a:t>
            </a:r>
            <a:endParaRPr lang="en-US" sz="2200" dirty="0"/>
          </a:p>
        </p:txBody>
      </p:sp>
      <p:sp>
        <p:nvSpPr>
          <p:cNvPr id="12" name="Shape 10"/>
          <p:cNvSpPr/>
          <p:nvPr/>
        </p:nvSpPr>
        <p:spPr>
          <a:xfrm>
            <a:off x="5989320" y="1874520"/>
            <a:ext cx="5440680" cy="3474720"/>
          </a:xfrm>
          <a:prstGeom prst="roundRect">
            <a:avLst>
              <a:gd name="adj" fmla="val 2105"/>
            </a:avLst>
          </a:prstGeom>
          <a:solidFill>
            <a:srgbClr val="12263B"/>
          </a:solidFill>
          <a:ln w="12700">
            <a:solidFill>
              <a:srgbClr val="12263B"/>
            </a:solidFill>
            <a:prstDash val="solid"/>
          </a:ln>
        </p:spPr>
      </p:sp>
      <p:sp>
        <p:nvSpPr>
          <p:cNvPr id="13" name="Shape 11"/>
          <p:cNvSpPr/>
          <p:nvPr/>
        </p:nvSpPr>
        <p:spPr>
          <a:xfrm>
            <a:off x="6309360" y="2157984"/>
            <a:ext cx="1938528" cy="283464"/>
          </a:xfrm>
          <a:prstGeom prst="roundRect">
            <a:avLst>
              <a:gd name="adj" fmla="val 25806"/>
            </a:avLst>
          </a:prstGeom>
          <a:solidFill>
            <a:srgbClr val="009187"/>
          </a:solidFill>
          <a:ln w="12700">
            <a:solidFill>
              <a:srgbClr val="009187"/>
            </a:solidFill>
            <a:prstDash val="solid"/>
          </a:ln>
        </p:spPr>
      </p:sp>
      <p:sp>
        <p:nvSpPr>
          <p:cNvPr id="14" name="Text 12"/>
          <p:cNvSpPr/>
          <p:nvPr/>
        </p:nvSpPr>
        <p:spPr>
          <a:xfrm>
            <a:off x="6355080" y="2171700"/>
            <a:ext cx="1847088"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PROJECT OBJECTIVES</a:t>
            </a:r>
            <a:endParaRPr lang="en-US" sz="900" dirty="0"/>
          </a:p>
        </p:txBody>
      </p:sp>
      <p:sp>
        <p:nvSpPr>
          <p:cNvPr id="15" name="Text 13"/>
          <p:cNvSpPr/>
          <p:nvPr/>
        </p:nvSpPr>
        <p:spPr>
          <a:xfrm>
            <a:off x="6309360" y="2779776"/>
            <a:ext cx="4617720" cy="2194560"/>
          </a:xfrm>
          <a:prstGeom prst="rect">
            <a:avLst/>
          </a:prstGeom>
          <a:noFill/>
          <a:ln/>
        </p:spPr>
        <p:txBody>
          <a:bodyPr wrap="square" lIns="0" tIns="0" rIns="0" bIns="0" rtlCol="0" anchor="t">
            <a:normAutofit/>
          </a:bodyPr>
          <a:lstStyle/>
          <a:p>
            <a:pPr marL="0" indent="0">
              <a:buNone/>
            </a:pPr>
            <a:r>
              <a:rPr lang="en-US" sz="2100" dirty="0">
                <a:solidFill>
                  <a:srgbClr val="FFFFFF"/>
                </a:solidFill>
                <a:latin typeface="Aptos" pitchFamily="34" charset="0"/>
                <a:ea typeface="Aptos" pitchFamily="34" charset="-122"/>
                <a:cs typeface="Aptos" pitchFamily="34" charset="-120"/>
              </a:rPr>
              <a:t>Organize student records</a:t>
            </a:r>
            <a:endParaRPr lang="en-US" sz="2100" dirty="0"/>
          </a:p>
          <a:p>
            <a:pPr marL="0" indent="0">
              <a:buNone/>
            </a:pPr>
            <a:r>
              <a:rPr lang="en-US" sz="2100" dirty="0">
                <a:solidFill>
                  <a:srgbClr val="FFFFFF"/>
                </a:solidFill>
                <a:latin typeface="Aptos" pitchFamily="34" charset="0"/>
                <a:ea typeface="Aptos" pitchFamily="34" charset="-122"/>
                <a:cs typeface="Aptos" pitchFamily="34" charset="-120"/>
              </a:rPr>
              <a:t>Manage section assignments</a:t>
            </a:r>
            <a:endParaRPr lang="en-US" sz="2100" dirty="0"/>
          </a:p>
          <a:p>
            <a:pPr marL="0" indent="0">
              <a:buNone/>
            </a:pPr>
            <a:r>
              <a:rPr lang="en-US" sz="2100" dirty="0">
                <a:solidFill>
                  <a:srgbClr val="FFFFFF"/>
                </a:solidFill>
                <a:latin typeface="Aptos" pitchFamily="34" charset="0"/>
                <a:ea typeface="Aptos" pitchFamily="34" charset="-122"/>
                <a:cs typeface="Aptos" pitchFamily="34" charset="-120"/>
              </a:rPr>
              <a:t>Validate grades from 0 to 100</a:t>
            </a:r>
            <a:endParaRPr lang="en-US" sz="2100" dirty="0"/>
          </a:p>
          <a:p>
            <a:pPr marL="0" indent="0">
              <a:buNone/>
            </a:pPr>
            <a:r>
              <a:rPr lang="en-US" sz="2100" dirty="0">
                <a:solidFill>
                  <a:srgbClr val="FFFFFF"/>
                </a:solidFill>
                <a:latin typeface="Aptos" pitchFamily="34" charset="0"/>
                <a:ea typeface="Aptos" pitchFamily="34" charset="-122"/>
                <a:cs typeface="Aptos" pitchFamily="34" charset="-120"/>
              </a:rPr>
              <a:t>Show useful dashboard statistics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03 / CAPABILITIES</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 clear handoff from application to enrollment</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Student-submitted records stay pending until an administrator makes the section assignment.</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04</a:t>
            </a:r>
            <a:endParaRPr lang="en-US" sz="1000" dirty="0"/>
          </a:p>
        </p:txBody>
      </p:sp>
      <p:sp>
        <p:nvSpPr>
          <p:cNvPr id="8" name="Text 6"/>
          <p:cNvSpPr/>
          <p:nvPr/>
        </p:nvSpPr>
        <p:spPr>
          <a:xfrm>
            <a:off x="676656" y="1847088"/>
            <a:ext cx="2286000" cy="292608"/>
          </a:xfrm>
          <a:prstGeom prst="rect">
            <a:avLst/>
          </a:prstGeom>
          <a:noFill/>
          <a:ln/>
        </p:spPr>
        <p:txBody>
          <a:bodyPr wrap="square" lIns="0" tIns="0" rIns="0" bIns="0" rtlCol="0" anchor="ctr">
            <a:normAutofit/>
          </a:bodyPr>
          <a:lstStyle/>
          <a:p>
            <a:pPr marL="0" indent="0">
              <a:buNone/>
            </a:pPr>
            <a:r>
              <a:rPr lang="en-US" sz="1200" b="1" dirty="0">
                <a:solidFill>
                  <a:srgbClr val="009187"/>
                </a:solidFill>
                <a:latin typeface="Aptos" pitchFamily="34" charset="0"/>
                <a:ea typeface="Aptos" pitchFamily="34" charset="-122"/>
                <a:cs typeface="Aptos" pitchFamily="34" charset="-120"/>
              </a:rPr>
              <a:t>STUDENT</a:t>
            </a:r>
            <a:endParaRPr lang="en-US" sz="1200" dirty="0"/>
          </a:p>
        </p:txBody>
      </p:sp>
      <p:sp>
        <p:nvSpPr>
          <p:cNvPr id="9" name="Text 7"/>
          <p:cNvSpPr/>
          <p:nvPr/>
        </p:nvSpPr>
        <p:spPr>
          <a:xfrm>
            <a:off x="676656" y="2304288"/>
            <a:ext cx="5440680" cy="2697480"/>
          </a:xfrm>
          <a:prstGeom prst="rect">
            <a:avLst/>
          </a:prstGeom>
          <a:noFill/>
          <a:ln/>
        </p:spPr>
        <p:txBody>
          <a:bodyPr wrap="square" lIns="0" tIns="0" rIns="0" bIns="0" rtlCol="0" anchor="t">
            <a:normAutofit/>
          </a:bodyPr>
          <a:lstStyle/>
          <a:p>
            <a:pPr marL="0" indent="0">
              <a:buNone/>
            </a:pPr>
            <a:r>
              <a:rPr lang="en-US" sz="1800" dirty="0">
                <a:solidFill>
                  <a:srgbClr val="132537"/>
                </a:solidFill>
                <a:latin typeface="Aptos" pitchFamily="34" charset="0"/>
                <a:ea typeface="Aptos" pitchFamily="34" charset="-122"/>
                <a:cs typeface="Aptos" pitchFamily="34" charset="-120"/>
              </a:rPr>
              <a:t>Create account and sign in</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Complete enrollment form in a popup</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Track pending, approved, or rejected status</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See the assigned section and its schedule</a:t>
            </a:r>
            <a:endParaRPr lang="en-US" sz="1800" dirty="0"/>
          </a:p>
        </p:txBody>
      </p:sp>
      <p:sp>
        <p:nvSpPr>
          <p:cNvPr id="10" name="Shape 8"/>
          <p:cNvSpPr/>
          <p:nvPr/>
        </p:nvSpPr>
        <p:spPr>
          <a:xfrm>
            <a:off x="6473952" y="1764792"/>
            <a:ext cx="5627004" cy="3531870"/>
          </a:xfrm>
          <a:prstGeom prst="roundRect">
            <a:avLst>
              <a:gd name="adj" fmla="val 2247"/>
            </a:avLst>
          </a:prstGeom>
          <a:solidFill>
            <a:srgbClr val="FFFFFC"/>
          </a:solidFill>
          <a:ln w="10160">
            <a:solidFill>
              <a:srgbClr val="D7DEDC"/>
            </a:solidFill>
            <a:prstDash val="solid"/>
          </a:ln>
        </p:spPr>
      </p:sp>
      <p:sp>
        <p:nvSpPr>
          <p:cNvPr id="12" name="Shape 9"/>
          <p:cNvSpPr/>
          <p:nvPr/>
        </p:nvSpPr>
        <p:spPr>
          <a:xfrm>
            <a:off x="8938082" y="5356617"/>
            <a:ext cx="1737360" cy="402990"/>
          </a:xfrm>
          <a:prstGeom prst="roundRect">
            <a:avLst>
              <a:gd name="adj" fmla="val 25806"/>
            </a:avLst>
          </a:prstGeom>
          <a:solidFill>
            <a:srgbClr val="009187"/>
          </a:solidFill>
          <a:ln w="12700">
            <a:solidFill>
              <a:srgbClr val="009187"/>
            </a:solidFill>
            <a:prstDash val="solid"/>
          </a:ln>
        </p:spPr>
      </p:sp>
      <p:sp>
        <p:nvSpPr>
          <p:cNvPr id="13" name="Text 10"/>
          <p:cNvSpPr/>
          <p:nvPr/>
        </p:nvSpPr>
        <p:spPr>
          <a:xfrm>
            <a:off x="8938082" y="5439240"/>
            <a:ext cx="164592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ENROLLMENT</a:t>
            </a:r>
            <a:endParaRPr lang="en-US" sz="1400" dirty="0"/>
          </a:p>
        </p:txBody>
      </p:sp>
      <p:pic>
        <p:nvPicPr>
          <p:cNvPr id="17" name="Picture 16">
            <a:extLst>
              <a:ext uri="{FF2B5EF4-FFF2-40B4-BE49-F238E27FC236}">
                <a16:creationId xmlns:a16="http://schemas.microsoft.com/office/drawing/2014/main" id="{FD89C19E-7911-23F0-6BD9-A7D0D44E0682}"/>
              </a:ext>
            </a:extLst>
          </p:cNvPr>
          <p:cNvPicPr>
            <a:picLocks noChangeAspect="1"/>
          </p:cNvPicPr>
          <p:nvPr/>
        </p:nvPicPr>
        <p:blipFill>
          <a:blip r:embed="rId3"/>
          <a:stretch>
            <a:fillRect/>
          </a:stretch>
        </p:blipFill>
        <p:spPr>
          <a:xfrm>
            <a:off x="6592824" y="1920017"/>
            <a:ext cx="5456118" cy="32813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04 / ARCHITECTURE</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 simple three-layer architecture</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The browser never connects directly to the spreadsheet.</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777240" y="2286000"/>
            <a:ext cx="3200400" cy="1325880"/>
          </a:xfrm>
          <a:prstGeom prst="roundRect">
            <a:avLst>
              <a:gd name="adj" fmla="val 5517"/>
            </a:avLst>
          </a:prstGeom>
          <a:solidFill>
            <a:srgbClr val="12263B"/>
          </a:solidFill>
          <a:ln w="12700">
            <a:solidFill>
              <a:srgbClr val="12263B"/>
            </a:solidFill>
            <a:prstDash val="solid"/>
          </a:ln>
        </p:spPr>
      </p:sp>
      <p:sp>
        <p:nvSpPr>
          <p:cNvPr id="9" name="Text 7"/>
          <p:cNvSpPr/>
          <p:nvPr/>
        </p:nvSpPr>
        <p:spPr>
          <a:xfrm>
            <a:off x="1033272" y="2578608"/>
            <a:ext cx="2697480" cy="27432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pitchFamily="34" charset="0"/>
                <a:ea typeface="Aptos" pitchFamily="34" charset="-122"/>
                <a:cs typeface="Aptos" pitchFamily="34" charset="-120"/>
              </a:rPr>
              <a:t>STUDENT + ADMIN</a:t>
            </a:r>
            <a:endParaRPr lang="en-US" sz="1600" dirty="0"/>
          </a:p>
        </p:txBody>
      </p:sp>
      <p:sp>
        <p:nvSpPr>
          <p:cNvPr id="10" name="Text 8"/>
          <p:cNvSpPr/>
          <p:nvPr/>
        </p:nvSpPr>
        <p:spPr>
          <a:xfrm>
            <a:off x="1033272" y="3063240"/>
            <a:ext cx="2697480" cy="438912"/>
          </a:xfrm>
          <a:prstGeom prst="rect">
            <a:avLst/>
          </a:prstGeom>
          <a:noFill/>
          <a:ln/>
        </p:spPr>
        <p:txBody>
          <a:bodyPr wrap="square" lIns="0" tIns="0" rIns="0" bIns="0" rtlCol="0" anchor="ctr">
            <a:normAutofit/>
          </a:bodyPr>
          <a:lstStyle/>
          <a:p>
            <a:pPr marL="0" indent="0">
              <a:buNone/>
            </a:pPr>
            <a:r>
              <a:rPr lang="en-US" sz="1200" dirty="0">
                <a:solidFill>
                  <a:srgbClr val="D9E7EC"/>
                </a:solidFill>
                <a:latin typeface="Aptos" pitchFamily="34" charset="0"/>
                <a:ea typeface="Aptos" pitchFamily="34" charset="-122"/>
                <a:cs typeface="Aptos" pitchFamily="34" charset="-120"/>
              </a:rPr>
              <a:t>Role-based dashboards</a:t>
            </a:r>
            <a:endParaRPr lang="en-US" sz="1200" dirty="0"/>
          </a:p>
        </p:txBody>
      </p:sp>
      <p:sp>
        <p:nvSpPr>
          <p:cNvPr id="11" name="Shape 9"/>
          <p:cNvSpPr/>
          <p:nvPr/>
        </p:nvSpPr>
        <p:spPr>
          <a:xfrm>
            <a:off x="4315968" y="2286000"/>
            <a:ext cx="3200400" cy="1325880"/>
          </a:xfrm>
          <a:prstGeom prst="roundRect">
            <a:avLst>
              <a:gd name="adj" fmla="val 5517"/>
            </a:avLst>
          </a:prstGeom>
          <a:solidFill>
            <a:srgbClr val="009187"/>
          </a:solidFill>
          <a:ln w="12700">
            <a:solidFill>
              <a:srgbClr val="009187"/>
            </a:solidFill>
            <a:prstDash val="solid"/>
          </a:ln>
        </p:spPr>
      </p:sp>
      <p:sp>
        <p:nvSpPr>
          <p:cNvPr id="12" name="Text 10"/>
          <p:cNvSpPr/>
          <p:nvPr/>
        </p:nvSpPr>
        <p:spPr>
          <a:xfrm>
            <a:off x="4572000" y="2578608"/>
            <a:ext cx="2697480" cy="27432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pitchFamily="34" charset="0"/>
                <a:ea typeface="Aptos" pitchFamily="34" charset="-122"/>
                <a:cs typeface="Aptos" pitchFamily="34" charset="-120"/>
              </a:rPr>
              <a:t>WEB FRONT END</a:t>
            </a:r>
            <a:endParaRPr lang="en-US" sz="1600" dirty="0"/>
          </a:p>
        </p:txBody>
      </p:sp>
      <p:sp>
        <p:nvSpPr>
          <p:cNvPr id="13" name="Text 11"/>
          <p:cNvSpPr/>
          <p:nvPr/>
        </p:nvSpPr>
        <p:spPr>
          <a:xfrm>
            <a:off x="4572000" y="3063240"/>
            <a:ext cx="2697480" cy="438912"/>
          </a:xfrm>
          <a:prstGeom prst="rect">
            <a:avLst/>
          </a:prstGeom>
          <a:noFill/>
          <a:ln/>
        </p:spPr>
        <p:txBody>
          <a:bodyPr wrap="square" lIns="0" tIns="0" rIns="0" bIns="0" rtlCol="0" anchor="ctr">
            <a:normAutofit/>
          </a:bodyPr>
          <a:lstStyle/>
          <a:p>
            <a:pPr marL="0" indent="0">
              <a:buNone/>
            </a:pPr>
            <a:r>
              <a:rPr lang="en-US" sz="1200" dirty="0">
                <a:solidFill>
                  <a:srgbClr val="D9E7EC"/>
                </a:solidFill>
                <a:latin typeface="Aptos" pitchFamily="34" charset="0"/>
                <a:ea typeface="Aptos" pitchFamily="34" charset="-122"/>
                <a:cs typeface="Aptos" pitchFamily="34" charset="-120"/>
              </a:rPr>
              <a:t>HTML / CSS / JavaScript</a:t>
            </a:r>
            <a:endParaRPr lang="en-US" sz="1200" dirty="0"/>
          </a:p>
        </p:txBody>
      </p:sp>
      <p:sp>
        <p:nvSpPr>
          <p:cNvPr id="14" name="Shape 12"/>
          <p:cNvSpPr/>
          <p:nvPr/>
        </p:nvSpPr>
        <p:spPr>
          <a:xfrm>
            <a:off x="7845552" y="2286000"/>
            <a:ext cx="3200400" cy="1325880"/>
          </a:xfrm>
          <a:prstGeom prst="roundRect">
            <a:avLst>
              <a:gd name="adj" fmla="val 5517"/>
            </a:avLst>
          </a:prstGeom>
          <a:solidFill>
            <a:srgbClr val="12263B"/>
          </a:solidFill>
          <a:ln w="12700">
            <a:solidFill>
              <a:srgbClr val="12263B"/>
            </a:solidFill>
            <a:prstDash val="solid"/>
          </a:ln>
        </p:spPr>
      </p:sp>
      <p:sp>
        <p:nvSpPr>
          <p:cNvPr id="15" name="Text 13"/>
          <p:cNvSpPr/>
          <p:nvPr/>
        </p:nvSpPr>
        <p:spPr>
          <a:xfrm>
            <a:off x="8101584" y="2578608"/>
            <a:ext cx="2697480" cy="27432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Aptos" pitchFamily="34" charset="0"/>
                <a:ea typeface="Aptos" pitchFamily="34" charset="-122"/>
                <a:cs typeface="Aptos" pitchFamily="34" charset="-120"/>
              </a:rPr>
              <a:t>APPS SCRIPT API</a:t>
            </a:r>
            <a:endParaRPr lang="en-US" sz="1600" dirty="0"/>
          </a:p>
        </p:txBody>
      </p:sp>
      <p:sp>
        <p:nvSpPr>
          <p:cNvPr id="16" name="Text 14"/>
          <p:cNvSpPr/>
          <p:nvPr/>
        </p:nvSpPr>
        <p:spPr>
          <a:xfrm>
            <a:off x="8101584" y="3063240"/>
            <a:ext cx="2697480" cy="438912"/>
          </a:xfrm>
          <a:prstGeom prst="rect">
            <a:avLst/>
          </a:prstGeom>
          <a:noFill/>
          <a:ln/>
        </p:spPr>
        <p:txBody>
          <a:bodyPr wrap="square" lIns="0" tIns="0" rIns="0" bIns="0" rtlCol="0" anchor="ctr">
            <a:normAutofit/>
          </a:bodyPr>
          <a:lstStyle/>
          <a:p>
            <a:pPr marL="0" indent="0">
              <a:buNone/>
            </a:pPr>
            <a:r>
              <a:rPr lang="en-US" sz="1200" dirty="0">
                <a:solidFill>
                  <a:srgbClr val="D9E7EC"/>
                </a:solidFill>
                <a:latin typeface="Aptos" pitchFamily="34" charset="0"/>
                <a:ea typeface="Aptos" pitchFamily="34" charset="-122"/>
                <a:cs typeface="Aptos" pitchFamily="34" charset="-120"/>
              </a:rPr>
              <a:t>Authentication / validation / operations</a:t>
            </a:r>
            <a:endParaRPr lang="en-US" sz="1200" dirty="0"/>
          </a:p>
        </p:txBody>
      </p:sp>
      <p:sp>
        <p:nvSpPr>
          <p:cNvPr id="17" name="Text 15"/>
          <p:cNvSpPr/>
          <p:nvPr/>
        </p:nvSpPr>
        <p:spPr>
          <a:xfrm>
            <a:off x="3977640" y="2679192"/>
            <a:ext cx="256032" cy="411480"/>
          </a:xfrm>
          <a:prstGeom prst="rect">
            <a:avLst/>
          </a:prstGeom>
          <a:noFill/>
          <a:ln/>
        </p:spPr>
        <p:txBody>
          <a:bodyPr wrap="square" lIns="0" tIns="0" rIns="0" bIns="0" rtlCol="0" anchor="ctr">
            <a:normAutofit/>
          </a:bodyPr>
          <a:lstStyle/>
          <a:p>
            <a:pPr marL="0" indent="0" algn="ctr">
              <a:buNone/>
            </a:pPr>
            <a:r>
              <a:rPr lang="en-US" sz="2500" b="1" dirty="0">
                <a:solidFill>
                  <a:srgbClr val="D96952"/>
                </a:solidFill>
                <a:latin typeface="Aptos" pitchFamily="34" charset="0"/>
                <a:ea typeface="Aptos" pitchFamily="34" charset="-122"/>
                <a:cs typeface="Aptos" pitchFamily="34" charset="-120"/>
              </a:rPr>
              <a:t>&gt;</a:t>
            </a:r>
            <a:endParaRPr lang="en-US" sz="2500" dirty="0"/>
          </a:p>
        </p:txBody>
      </p:sp>
      <p:sp>
        <p:nvSpPr>
          <p:cNvPr id="18" name="Text 16"/>
          <p:cNvSpPr/>
          <p:nvPr/>
        </p:nvSpPr>
        <p:spPr>
          <a:xfrm>
            <a:off x="7498080" y="2679192"/>
            <a:ext cx="256032" cy="411480"/>
          </a:xfrm>
          <a:prstGeom prst="rect">
            <a:avLst/>
          </a:prstGeom>
          <a:noFill/>
          <a:ln/>
        </p:spPr>
        <p:txBody>
          <a:bodyPr wrap="square" lIns="0" tIns="0" rIns="0" bIns="0" rtlCol="0" anchor="ctr">
            <a:normAutofit/>
          </a:bodyPr>
          <a:lstStyle/>
          <a:p>
            <a:pPr marL="0" indent="0" algn="ctr">
              <a:buNone/>
            </a:pPr>
            <a:r>
              <a:rPr lang="en-US" sz="2500" b="1" dirty="0">
                <a:solidFill>
                  <a:srgbClr val="D96952"/>
                </a:solidFill>
                <a:latin typeface="Aptos" pitchFamily="34" charset="0"/>
                <a:ea typeface="Aptos" pitchFamily="34" charset="-122"/>
                <a:cs typeface="Aptos" pitchFamily="34" charset="-120"/>
              </a:rPr>
              <a:t>&gt;</a:t>
            </a:r>
            <a:endParaRPr lang="en-US" sz="2500" dirty="0"/>
          </a:p>
        </p:txBody>
      </p:sp>
      <p:sp>
        <p:nvSpPr>
          <p:cNvPr id="19" name="Shape 17"/>
          <p:cNvSpPr/>
          <p:nvPr/>
        </p:nvSpPr>
        <p:spPr>
          <a:xfrm>
            <a:off x="3337560" y="4434840"/>
            <a:ext cx="5532120" cy="987552"/>
          </a:xfrm>
          <a:prstGeom prst="roundRect">
            <a:avLst>
              <a:gd name="adj" fmla="val 7407"/>
            </a:avLst>
          </a:prstGeom>
          <a:solidFill>
            <a:srgbClr val="FFFFFC"/>
          </a:solidFill>
          <a:ln w="10160">
            <a:solidFill>
              <a:srgbClr val="D7DEDC"/>
            </a:solidFill>
            <a:prstDash val="solid"/>
          </a:ln>
        </p:spPr>
      </p:sp>
      <p:sp>
        <p:nvSpPr>
          <p:cNvPr id="20" name="Text 18"/>
          <p:cNvSpPr/>
          <p:nvPr/>
        </p:nvSpPr>
        <p:spPr>
          <a:xfrm>
            <a:off x="3730752" y="4645152"/>
            <a:ext cx="4663440" cy="228600"/>
          </a:xfrm>
          <a:prstGeom prst="rect">
            <a:avLst/>
          </a:prstGeom>
          <a:noFill/>
          <a:ln/>
        </p:spPr>
        <p:txBody>
          <a:bodyPr wrap="square" lIns="0" tIns="0" rIns="0" bIns="0" rtlCol="0" anchor="ctr">
            <a:normAutofit/>
          </a:bodyPr>
          <a:lstStyle/>
          <a:p>
            <a:pPr marL="0" indent="0" algn="ctr">
              <a:buNone/>
            </a:pPr>
            <a:r>
              <a:rPr lang="en-US" sz="1500" b="1" dirty="0">
                <a:solidFill>
                  <a:srgbClr val="132537"/>
                </a:solidFill>
                <a:latin typeface="Aptos" pitchFamily="34" charset="0"/>
                <a:ea typeface="Aptos" pitchFamily="34" charset="-122"/>
                <a:cs typeface="Aptos" pitchFamily="34" charset="-120"/>
              </a:rPr>
              <a:t>GOOGLE SHEETS DATABASE</a:t>
            </a:r>
            <a:endParaRPr lang="en-US" sz="1500" dirty="0"/>
          </a:p>
        </p:txBody>
      </p:sp>
      <p:sp>
        <p:nvSpPr>
          <p:cNvPr id="21" name="Text 19"/>
          <p:cNvSpPr/>
          <p:nvPr/>
        </p:nvSpPr>
        <p:spPr>
          <a:xfrm>
            <a:off x="3730752" y="4992624"/>
            <a:ext cx="4663440" cy="219456"/>
          </a:xfrm>
          <a:prstGeom prst="rect">
            <a:avLst/>
          </a:prstGeom>
          <a:noFill/>
          <a:ln/>
        </p:spPr>
        <p:txBody>
          <a:bodyPr wrap="square" lIns="0" tIns="0" rIns="0" bIns="0" rtlCol="0" anchor="ctr">
            <a:noAutofit/>
          </a:bodyPr>
          <a:lstStyle/>
          <a:p>
            <a:pPr marL="0" indent="0" algn="ctr">
              <a:buNone/>
            </a:pPr>
            <a:r>
              <a:rPr lang="en-US" sz="1400" dirty="0">
                <a:solidFill>
                  <a:srgbClr val="5F707C"/>
                </a:solidFill>
                <a:latin typeface="Aptos" pitchFamily="34" charset="0"/>
                <a:ea typeface="Aptos" pitchFamily="34" charset="-122"/>
                <a:cs typeface="Aptos" pitchFamily="34" charset="-120"/>
              </a:rPr>
              <a:t>Users / Requests / Students / Sections / Grades / Announcements</a:t>
            </a:r>
            <a:endParaRPr lang="en-US" sz="1400" dirty="0"/>
          </a:p>
        </p:txBody>
      </p:sp>
      <p:sp>
        <p:nvSpPr>
          <p:cNvPr id="22" name="Text 20"/>
          <p:cNvSpPr/>
          <p:nvPr/>
        </p:nvSpPr>
        <p:spPr>
          <a:xfrm>
            <a:off x="5961888" y="3776472"/>
            <a:ext cx="292608" cy="411480"/>
          </a:xfrm>
          <a:prstGeom prst="rect">
            <a:avLst/>
          </a:prstGeom>
          <a:noFill/>
          <a:ln/>
        </p:spPr>
        <p:txBody>
          <a:bodyPr wrap="square" lIns="0" tIns="0" rIns="0" bIns="0" rtlCol="0" anchor="ctr">
            <a:normAutofit/>
          </a:bodyPr>
          <a:lstStyle/>
          <a:p>
            <a:pPr marL="0" indent="0" algn="ctr">
              <a:buNone/>
            </a:pPr>
            <a:r>
              <a:rPr lang="en-US" sz="2400" b="1" dirty="0">
                <a:solidFill>
                  <a:srgbClr val="D96952"/>
                </a:solidFill>
                <a:latin typeface="Aptos" pitchFamily="34" charset="0"/>
                <a:ea typeface="Aptos" pitchFamily="34" charset="-122"/>
                <a:cs typeface="Aptos" pitchFamily="34" charset="-120"/>
              </a:rPr>
              <a:t>v</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05 / DATA</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Spreadsheet tables keep records organized</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Each sheet has a focused responsibility.</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658368" y="1828800"/>
            <a:ext cx="2578608" cy="1170432"/>
          </a:xfrm>
          <a:prstGeom prst="roundRect">
            <a:avLst>
              <a:gd name="adj" fmla="val 6250"/>
            </a:avLst>
          </a:prstGeom>
          <a:solidFill>
            <a:srgbClr val="FFFFFC"/>
          </a:solidFill>
          <a:ln w="10160">
            <a:solidFill>
              <a:srgbClr val="D7DEDC"/>
            </a:solidFill>
            <a:prstDash val="solid"/>
          </a:ln>
        </p:spPr>
      </p:sp>
      <p:sp>
        <p:nvSpPr>
          <p:cNvPr id="9" name="Shape 7"/>
          <p:cNvSpPr/>
          <p:nvPr/>
        </p:nvSpPr>
        <p:spPr>
          <a:xfrm>
            <a:off x="658368" y="1828800"/>
            <a:ext cx="73152" cy="1170432"/>
          </a:xfrm>
          <a:prstGeom prst="rect">
            <a:avLst/>
          </a:prstGeom>
          <a:solidFill>
            <a:srgbClr val="009187"/>
          </a:solidFill>
          <a:ln w="12700">
            <a:solidFill>
              <a:srgbClr val="009187">
                <a:alpha val="0"/>
              </a:srgbClr>
            </a:solidFill>
            <a:prstDash val="solid"/>
          </a:ln>
        </p:spPr>
      </p:sp>
      <p:sp>
        <p:nvSpPr>
          <p:cNvPr id="10" name="Text 8"/>
          <p:cNvSpPr/>
          <p:nvPr/>
        </p:nvSpPr>
        <p:spPr>
          <a:xfrm>
            <a:off x="859536" y="2029968"/>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USERS</a:t>
            </a:r>
            <a:endParaRPr lang="en-US" sz="1200" dirty="0"/>
          </a:p>
        </p:txBody>
      </p:sp>
      <p:sp>
        <p:nvSpPr>
          <p:cNvPr id="11" name="Text 9"/>
          <p:cNvSpPr/>
          <p:nvPr/>
        </p:nvSpPr>
        <p:spPr>
          <a:xfrm>
            <a:off x="859536" y="2395728"/>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Student and Admin accounts</a:t>
            </a:r>
            <a:endParaRPr lang="en-US" sz="1000" dirty="0"/>
          </a:p>
        </p:txBody>
      </p:sp>
      <p:sp>
        <p:nvSpPr>
          <p:cNvPr id="12" name="Shape 10"/>
          <p:cNvSpPr/>
          <p:nvPr/>
        </p:nvSpPr>
        <p:spPr>
          <a:xfrm>
            <a:off x="3538728" y="1828800"/>
            <a:ext cx="2578608" cy="1170432"/>
          </a:xfrm>
          <a:prstGeom prst="roundRect">
            <a:avLst>
              <a:gd name="adj" fmla="val 6250"/>
            </a:avLst>
          </a:prstGeom>
          <a:solidFill>
            <a:srgbClr val="FFFFFC"/>
          </a:solidFill>
          <a:ln w="10160">
            <a:solidFill>
              <a:srgbClr val="D7DEDC"/>
            </a:solidFill>
            <a:prstDash val="solid"/>
          </a:ln>
        </p:spPr>
      </p:sp>
      <p:sp>
        <p:nvSpPr>
          <p:cNvPr id="13" name="Shape 11"/>
          <p:cNvSpPr/>
          <p:nvPr/>
        </p:nvSpPr>
        <p:spPr>
          <a:xfrm>
            <a:off x="3538728" y="1828800"/>
            <a:ext cx="73152" cy="1170432"/>
          </a:xfrm>
          <a:prstGeom prst="rect">
            <a:avLst/>
          </a:prstGeom>
          <a:solidFill>
            <a:srgbClr val="D96952"/>
          </a:solidFill>
          <a:ln w="12700">
            <a:solidFill>
              <a:srgbClr val="D96952">
                <a:alpha val="0"/>
              </a:srgbClr>
            </a:solidFill>
            <a:prstDash val="solid"/>
          </a:ln>
        </p:spPr>
      </p:sp>
      <p:sp>
        <p:nvSpPr>
          <p:cNvPr id="14" name="Text 12"/>
          <p:cNvSpPr/>
          <p:nvPr/>
        </p:nvSpPr>
        <p:spPr>
          <a:xfrm>
            <a:off x="3739896" y="2029968"/>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REQUESTS</a:t>
            </a:r>
            <a:endParaRPr lang="en-US" sz="1200" dirty="0"/>
          </a:p>
        </p:txBody>
      </p:sp>
      <p:sp>
        <p:nvSpPr>
          <p:cNvPr id="15" name="Text 13"/>
          <p:cNvSpPr/>
          <p:nvPr/>
        </p:nvSpPr>
        <p:spPr>
          <a:xfrm>
            <a:off x="3739896" y="2395728"/>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Enrollment submissions and review</a:t>
            </a:r>
            <a:endParaRPr lang="en-US" sz="1000" dirty="0"/>
          </a:p>
        </p:txBody>
      </p:sp>
      <p:sp>
        <p:nvSpPr>
          <p:cNvPr id="16" name="Shape 14"/>
          <p:cNvSpPr/>
          <p:nvPr/>
        </p:nvSpPr>
        <p:spPr>
          <a:xfrm>
            <a:off x="6419088" y="1828800"/>
            <a:ext cx="2578608" cy="1170432"/>
          </a:xfrm>
          <a:prstGeom prst="roundRect">
            <a:avLst>
              <a:gd name="adj" fmla="val 6250"/>
            </a:avLst>
          </a:prstGeom>
          <a:solidFill>
            <a:srgbClr val="FFFFFC"/>
          </a:solidFill>
          <a:ln w="10160">
            <a:solidFill>
              <a:srgbClr val="D7DEDC"/>
            </a:solidFill>
            <a:prstDash val="solid"/>
          </a:ln>
        </p:spPr>
      </p:sp>
      <p:sp>
        <p:nvSpPr>
          <p:cNvPr id="17" name="Shape 15"/>
          <p:cNvSpPr/>
          <p:nvPr/>
        </p:nvSpPr>
        <p:spPr>
          <a:xfrm>
            <a:off x="6419088" y="1828800"/>
            <a:ext cx="73152" cy="1170432"/>
          </a:xfrm>
          <a:prstGeom prst="rect">
            <a:avLst/>
          </a:prstGeom>
          <a:solidFill>
            <a:srgbClr val="009187"/>
          </a:solidFill>
          <a:ln w="12700">
            <a:solidFill>
              <a:srgbClr val="009187">
                <a:alpha val="0"/>
              </a:srgbClr>
            </a:solidFill>
            <a:prstDash val="solid"/>
          </a:ln>
        </p:spPr>
      </p:sp>
      <p:sp>
        <p:nvSpPr>
          <p:cNvPr id="18" name="Text 16"/>
          <p:cNvSpPr/>
          <p:nvPr/>
        </p:nvSpPr>
        <p:spPr>
          <a:xfrm>
            <a:off x="6620256" y="2029968"/>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STUDENTS</a:t>
            </a:r>
            <a:endParaRPr lang="en-US" sz="1200" dirty="0"/>
          </a:p>
        </p:txBody>
      </p:sp>
      <p:sp>
        <p:nvSpPr>
          <p:cNvPr id="19" name="Text 17"/>
          <p:cNvSpPr/>
          <p:nvPr/>
        </p:nvSpPr>
        <p:spPr>
          <a:xfrm>
            <a:off x="6620256" y="2395728"/>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Approved student details</a:t>
            </a:r>
            <a:endParaRPr lang="en-US" sz="1000" dirty="0"/>
          </a:p>
        </p:txBody>
      </p:sp>
      <p:sp>
        <p:nvSpPr>
          <p:cNvPr id="20" name="Shape 18"/>
          <p:cNvSpPr/>
          <p:nvPr/>
        </p:nvSpPr>
        <p:spPr>
          <a:xfrm>
            <a:off x="9299448" y="1828800"/>
            <a:ext cx="2578608" cy="1170432"/>
          </a:xfrm>
          <a:prstGeom prst="roundRect">
            <a:avLst>
              <a:gd name="adj" fmla="val 6250"/>
            </a:avLst>
          </a:prstGeom>
          <a:solidFill>
            <a:srgbClr val="FFFFFC"/>
          </a:solidFill>
          <a:ln w="10160">
            <a:solidFill>
              <a:srgbClr val="D7DEDC"/>
            </a:solidFill>
            <a:prstDash val="solid"/>
          </a:ln>
        </p:spPr>
      </p:sp>
      <p:sp>
        <p:nvSpPr>
          <p:cNvPr id="21" name="Shape 19"/>
          <p:cNvSpPr/>
          <p:nvPr/>
        </p:nvSpPr>
        <p:spPr>
          <a:xfrm>
            <a:off x="9299448" y="1828800"/>
            <a:ext cx="73152" cy="1170432"/>
          </a:xfrm>
          <a:prstGeom prst="rect">
            <a:avLst/>
          </a:prstGeom>
          <a:solidFill>
            <a:srgbClr val="D96952"/>
          </a:solidFill>
          <a:ln w="12700">
            <a:solidFill>
              <a:srgbClr val="D96952">
                <a:alpha val="0"/>
              </a:srgbClr>
            </a:solidFill>
            <a:prstDash val="solid"/>
          </a:ln>
        </p:spPr>
      </p:sp>
      <p:sp>
        <p:nvSpPr>
          <p:cNvPr id="22" name="Text 20"/>
          <p:cNvSpPr/>
          <p:nvPr/>
        </p:nvSpPr>
        <p:spPr>
          <a:xfrm>
            <a:off x="9500616" y="2029968"/>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SECTIONS</a:t>
            </a:r>
            <a:endParaRPr lang="en-US" sz="1200" dirty="0"/>
          </a:p>
        </p:txBody>
      </p:sp>
      <p:sp>
        <p:nvSpPr>
          <p:cNvPr id="23" name="Text 21"/>
          <p:cNvSpPr/>
          <p:nvPr/>
        </p:nvSpPr>
        <p:spPr>
          <a:xfrm>
            <a:off x="9500616" y="2395728"/>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Grade level and section</a:t>
            </a:r>
            <a:endParaRPr lang="en-US" sz="1000" dirty="0"/>
          </a:p>
        </p:txBody>
      </p:sp>
      <p:sp>
        <p:nvSpPr>
          <p:cNvPr id="24" name="Shape 22"/>
          <p:cNvSpPr/>
          <p:nvPr/>
        </p:nvSpPr>
        <p:spPr>
          <a:xfrm>
            <a:off x="658368" y="3456432"/>
            <a:ext cx="2578608" cy="1170432"/>
          </a:xfrm>
          <a:prstGeom prst="roundRect">
            <a:avLst>
              <a:gd name="adj" fmla="val 6250"/>
            </a:avLst>
          </a:prstGeom>
          <a:solidFill>
            <a:srgbClr val="FFFFFC"/>
          </a:solidFill>
          <a:ln w="10160">
            <a:solidFill>
              <a:srgbClr val="D7DEDC"/>
            </a:solidFill>
            <a:prstDash val="solid"/>
          </a:ln>
        </p:spPr>
      </p:sp>
      <p:sp>
        <p:nvSpPr>
          <p:cNvPr id="25" name="Shape 23"/>
          <p:cNvSpPr/>
          <p:nvPr/>
        </p:nvSpPr>
        <p:spPr>
          <a:xfrm>
            <a:off x="658368" y="3456432"/>
            <a:ext cx="73152" cy="1170432"/>
          </a:xfrm>
          <a:prstGeom prst="rect">
            <a:avLst/>
          </a:prstGeom>
          <a:solidFill>
            <a:srgbClr val="009187"/>
          </a:solidFill>
          <a:ln w="12700">
            <a:solidFill>
              <a:srgbClr val="009187">
                <a:alpha val="0"/>
              </a:srgbClr>
            </a:solidFill>
            <a:prstDash val="solid"/>
          </a:ln>
        </p:spPr>
      </p:sp>
      <p:sp>
        <p:nvSpPr>
          <p:cNvPr id="26" name="Text 24"/>
          <p:cNvSpPr/>
          <p:nvPr/>
        </p:nvSpPr>
        <p:spPr>
          <a:xfrm>
            <a:off x="859536" y="3657600"/>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GRADES</a:t>
            </a:r>
            <a:endParaRPr lang="en-US" sz="1200" dirty="0"/>
          </a:p>
        </p:txBody>
      </p:sp>
      <p:sp>
        <p:nvSpPr>
          <p:cNvPr id="27" name="Text 25"/>
          <p:cNvSpPr/>
          <p:nvPr/>
        </p:nvSpPr>
        <p:spPr>
          <a:xfrm>
            <a:off x="859536" y="4023360"/>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Subject grades and school period</a:t>
            </a:r>
            <a:endParaRPr lang="en-US" sz="1000" dirty="0"/>
          </a:p>
        </p:txBody>
      </p:sp>
      <p:sp>
        <p:nvSpPr>
          <p:cNvPr id="28" name="Shape 26"/>
          <p:cNvSpPr/>
          <p:nvPr/>
        </p:nvSpPr>
        <p:spPr>
          <a:xfrm>
            <a:off x="3538728" y="3456432"/>
            <a:ext cx="2578608" cy="1170432"/>
          </a:xfrm>
          <a:prstGeom prst="roundRect">
            <a:avLst>
              <a:gd name="adj" fmla="val 6250"/>
            </a:avLst>
          </a:prstGeom>
          <a:solidFill>
            <a:srgbClr val="FFFFFC"/>
          </a:solidFill>
          <a:ln w="10160">
            <a:solidFill>
              <a:srgbClr val="D7DEDC"/>
            </a:solidFill>
            <a:prstDash val="solid"/>
          </a:ln>
        </p:spPr>
      </p:sp>
      <p:sp>
        <p:nvSpPr>
          <p:cNvPr id="29" name="Shape 27"/>
          <p:cNvSpPr/>
          <p:nvPr/>
        </p:nvSpPr>
        <p:spPr>
          <a:xfrm>
            <a:off x="3538728" y="3456432"/>
            <a:ext cx="73152" cy="1170432"/>
          </a:xfrm>
          <a:prstGeom prst="rect">
            <a:avLst/>
          </a:prstGeom>
          <a:solidFill>
            <a:srgbClr val="D96952"/>
          </a:solidFill>
          <a:ln w="12700">
            <a:solidFill>
              <a:srgbClr val="D96952">
                <a:alpha val="0"/>
              </a:srgbClr>
            </a:solidFill>
            <a:prstDash val="solid"/>
          </a:ln>
        </p:spPr>
      </p:sp>
      <p:sp>
        <p:nvSpPr>
          <p:cNvPr id="30" name="Text 28"/>
          <p:cNvSpPr/>
          <p:nvPr/>
        </p:nvSpPr>
        <p:spPr>
          <a:xfrm>
            <a:off x="3739896" y="3657600"/>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ANNOUNCEMENTS</a:t>
            </a:r>
            <a:endParaRPr lang="en-US" sz="1200" dirty="0"/>
          </a:p>
        </p:txBody>
      </p:sp>
      <p:sp>
        <p:nvSpPr>
          <p:cNvPr id="31" name="Text 29"/>
          <p:cNvSpPr/>
          <p:nvPr/>
        </p:nvSpPr>
        <p:spPr>
          <a:xfrm>
            <a:off x="3739896" y="4023360"/>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Schedules for assigned sections</a:t>
            </a:r>
            <a:endParaRPr lang="en-US" sz="1000" dirty="0"/>
          </a:p>
        </p:txBody>
      </p:sp>
      <p:sp>
        <p:nvSpPr>
          <p:cNvPr id="32" name="Shape 30"/>
          <p:cNvSpPr/>
          <p:nvPr/>
        </p:nvSpPr>
        <p:spPr>
          <a:xfrm>
            <a:off x="6419088" y="3456432"/>
            <a:ext cx="2578608" cy="1170432"/>
          </a:xfrm>
          <a:prstGeom prst="roundRect">
            <a:avLst>
              <a:gd name="adj" fmla="val 6250"/>
            </a:avLst>
          </a:prstGeom>
          <a:solidFill>
            <a:srgbClr val="FFFFFC"/>
          </a:solidFill>
          <a:ln w="10160">
            <a:solidFill>
              <a:srgbClr val="D7DEDC"/>
            </a:solidFill>
            <a:prstDash val="solid"/>
          </a:ln>
        </p:spPr>
      </p:sp>
      <p:sp>
        <p:nvSpPr>
          <p:cNvPr id="33" name="Shape 31"/>
          <p:cNvSpPr/>
          <p:nvPr/>
        </p:nvSpPr>
        <p:spPr>
          <a:xfrm>
            <a:off x="6419088" y="3456432"/>
            <a:ext cx="73152" cy="1170432"/>
          </a:xfrm>
          <a:prstGeom prst="rect">
            <a:avLst/>
          </a:prstGeom>
          <a:solidFill>
            <a:srgbClr val="009187"/>
          </a:solidFill>
          <a:ln w="12700">
            <a:solidFill>
              <a:srgbClr val="009187">
                <a:alpha val="0"/>
              </a:srgbClr>
            </a:solidFill>
            <a:prstDash val="solid"/>
          </a:ln>
        </p:spPr>
      </p:sp>
      <p:sp>
        <p:nvSpPr>
          <p:cNvPr id="34" name="Text 32"/>
          <p:cNvSpPr/>
          <p:nvPr/>
        </p:nvSpPr>
        <p:spPr>
          <a:xfrm>
            <a:off x="6620256" y="3657600"/>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SETTINGS</a:t>
            </a:r>
            <a:endParaRPr lang="en-US" sz="1200" dirty="0"/>
          </a:p>
        </p:txBody>
      </p:sp>
      <p:sp>
        <p:nvSpPr>
          <p:cNvPr id="35" name="Text 33"/>
          <p:cNvSpPr/>
          <p:nvPr/>
        </p:nvSpPr>
        <p:spPr>
          <a:xfrm>
            <a:off x="6620256" y="4023360"/>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School year, subjects, passing grade</a:t>
            </a:r>
            <a:endParaRPr lang="en-US" sz="1000" dirty="0"/>
          </a:p>
        </p:txBody>
      </p:sp>
      <p:sp>
        <p:nvSpPr>
          <p:cNvPr id="36" name="Shape 34"/>
          <p:cNvSpPr/>
          <p:nvPr/>
        </p:nvSpPr>
        <p:spPr>
          <a:xfrm>
            <a:off x="9299448" y="3456432"/>
            <a:ext cx="2578608" cy="1170432"/>
          </a:xfrm>
          <a:prstGeom prst="roundRect">
            <a:avLst>
              <a:gd name="adj" fmla="val 6250"/>
            </a:avLst>
          </a:prstGeom>
          <a:solidFill>
            <a:srgbClr val="FFFFFC"/>
          </a:solidFill>
          <a:ln w="10160">
            <a:solidFill>
              <a:srgbClr val="D7DEDC"/>
            </a:solidFill>
            <a:prstDash val="solid"/>
          </a:ln>
        </p:spPr>
      </p:sp>
      <p:sp>
        <p:nvSpPr>
          <p:cNvPr id="37" name="Shape 35"/>
          <p:cNvSpPr/>
          <p:nvPr/>
        </p:nvSpPr>
        <p:spPr>
          <a:xfrm>
            <a:off x="9299448" y="3456432"/>
            <a:ext cx="73152" cy="1170432"/>
          </a:xfrm>
          <a:prstGeom prst="rect">
            <a:avLst/>
          </a:prstGeom>
          <a:solidFill>
            <a:srgbClr val="D96952"/>
          </a:solidFill>
          <a:ln w="12700">
            <a:solidFill>
              <a:srgbClr val="D96952">
                <a:alpha val="0"/>
              </a:srgbClr>
            </a:solidFill>
            <a:prstDash val="solid"/>
          </a:ln>
        </p:spPr>
      </p:sp>
      <p:sp>
        <p:nvSpPr>
          <p:cNvPr id="38" name="Text 36"/>
          <p:cNvSpPr/>
          <p:nvPr/>
        </p:nvSpPr>
        <p:spPr>
          <a:xfrm>
            <a:off x="9500616" y="3657600"/>
            <a:ext cx="2212848" cy="256032"/>
          </a:xfrm>
          <a:prstGeom prst="rect">
            <a:avLst/>
          </a:prstGeom>
          <a:noFill/>
          <a:ln/>
        </p:spPr>
        <p:txBody>
          <a:bodyPr wrap="square" lIns="0" tIns="0" rIns="0" bIns="0" rtlCol="0" anchor="ctr">
            <a:normAutofit/>
          </a:bodyPr>
          <a:lstStyle/>
          <a:p>
            <a:pPr marL="0" indent="0">
              <a:buNone/>
            </a:pPr>
            <a:r>
              <a:rPr lang="en-US" sz="1200" b="1" dirty="0">
                <a:solidFill>
                  <a:srgbClr val="132537"/>
                </a:solidFill>
                <a:latin typeface="Aptos" pitchFamily="34" charset="0"/>
                <a:ea typeface="Aptos" pitchFamily="34" charset="-122"/>
                <a:cs typeface="Aptos" pitchFamily="34" charset="-120"/>
              </a:rPr>
              <a:t>ACTIVITY LOGS</a:t>
            </a:r>
            <a:endParaRPr lang="en-US" sz="1200" dirty="0"/>
          </a:p>
        </p:txBody>
      </p:sp>
      <p:sp>
        <p:nvSpPr>
          <p:cNvPr id="39" name="Text 37"/>
          <p:cNvSpPr/>
          <p:nvPr/>
        </p:nvSpPr>
        <p:spPr>
          <a:xfrm>
            <a:off x="9500616" y="4023360"/>
            <a:ext cx="2212848" cy="384048"/>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Recorded administrative actions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06 / INTERFACE</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Sign in or create a student account</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One login routes users to the dashboard for their account role.</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94360" y="1673352"/>
            <a:ext cx="4882896" cy="3648456"/>
          </a:xfrm>
          <a:prstGeom prst="roundRect">
            <a:avLst>
              <a:gd name="adj" fmla="val 2005"/>
            </a:avLst>
          </a:prstGeom>
          <a:solidFill>
            <a:srgbClr val="FFFFFC"/>
          </a:solidFill>
          <a:ln w="10160">
            <a:solidFill>
              <a:srgbClr val="D7DEDC"/>
            </a:solidFill>
            <a:prstDash val="solid"/>
          </a:ln>
        </p:spPr>
      </p:sp>
      <p:sp>
        <p:nvSpPr>
          <p:cNvPr id="10" name="Shape 7"/>
          <p:cNvSpPr/>
          <p:nvPr/>
        </p:nvSpPr>
        <p:spPr>
          <a:xfrm>
            <a:off x="6382512" y="1673352"/>
            <a:ext cx="4882896" cy="3648456"/>
          </a:xfrm>
          <a:prstGeom prst="roundRect">
            <a:avLst>
              <a:gd name="adj" fmla="val 2005"/>
            </a:avLst>
          </a:prstGeom>
          <a:solidFill>
            <a:srgbClr val="FFFFFC"/>
          </a:solidFill>
          <a:ln w="10160">
            <a:solidFill>
              <a:srgbClr val="D7DEDC"/>
            </a:solidFill>
            <a:prstDash val="solid"/>
          </a:ln>
        </p:spPr>
      </p:sp>
      <p:sp>
        <p:nvSpPr>
          <p:cNvPr id="12" name="Shape 8"/>
          <p:cNvSpPr/>
          <p:nvPr/>
        </p:nvSpPr>
        <p:spPr>
          <a:xfrm>
            <a:off x="2048256" y="5413248"/>
            <a:ext cx="1965960" cy="283464"/>
          </a:xfrm>
          <a:prstGeom prst="roundRect">
            <a:avLst>
              <a:gd name="adj" fmla="val 25806"/>
            </a:avLst>
          </a:prstGeom>
          <a:solidFill>
            <a:srgbClr val="009187"/>
          </a:solidFill>
          <a:ln w="12700">
            <a:solidFill>
              <a:srgbClr val="009187"/>
            </a:solidFill>
            <a:prstDash val="solid"/>
          </a:ln>
        </p:spPr>
      </p:sp>
      <p:sp>
        <p:nvSpPr>
          <p:cNvPr id="13" name="Text 9"/>
          <p:cNvSpPr/>
          <p:nvPr/>
        </p:nvSpPr>
        <p:spPr>
          <a:xfrm>
            <a:off x="2093976" y="5458968"/>
            <a:ext cx="1874520" cy="23774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ROLE-BASED LOGIN</a:t>
            </a:r>
            <a:endParaRPr lang="en-US" sz="1200" dirty="0"/>
          </a:p>
        </p:txBody>
      </p:sp>
      <p:sp>
        <p:nvSpPr>
          <p:cNvPr id="14" name="Shape 10"/>
          <p:cNvSpPr/>
          <p:nvPr/>
        </p:nvSpPr>
        <p:spPr>
          <a:xfrm>
            <a:off x="7827264" y="5413248"/>
            <a:ext cx="1965960" cy="283464"/>
          </a:xfrm>
          <a:prstGeom prst="roundRect">
            <a:avLst>
              <a:gd name="adj" fmla="val 25806"/>
            </a:avLst>
          </a:prstGeom>
          <a:solidFill>
            <a:srgbClr val="009187"/>
          </a:solidFill>
          <a:ln w="12700">
            <a:solidFill>
              <a:srgbClr val="009187"/>
            </a:solidFill>
            <a:prstDash val="solid"/>
          </a:ln>
        </p:spPr>
      </p:sp>
      <p:sp>
        <p:nvSpPr>
          <p:cNvPr id="15" name="Text 11"/>
          <p:cNvSpPr/>
          <p:nvPr/>
        </p:nvSpPr>
        <p:spPr>
          <a:xfrm>
            <a:off x="7872984" y="5426964"/>
            <a:ext cx="187452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STUDENT SIGNUP</a:t>
            </a:r>
            <a:endParaRPr lang="en-US" sz="1400" dirty="0"/>
          </a:p>
        </p:txBody>
      </p:sp>
      <p:pic>
        <p:nvPicPr>
          <p:cNvPr id="17" name="Picture 16">
            <a:extLst>
              <a:ext uri="{FF2B5EF4-FFF2-40B4-BE49-F238E27FC236}">
                <a16:creationId xmlns:a16="http://schemas.microsoft.com/office/drawing/2014/main" id="{E83707B4-F697-CB08-C606-2C98883A74E2}"/>
              </a:ext>
            </a:extLst>
          </p:cNvPr>
          <p:cNvPicPr>
            <a:picLocks noChangeAspect="1"/>
          </p:cNvPicPr>
          <p:nvPr/>
        </p:nvPicPr>
        <p:blipFill>
          <a:blip r:embed="rId3"/>
          <a:stretch>
            <a:fillRect/>
          </a:stretch>
        </p:blipFill>
        <p:spPr>
          <a:xfrm>
            <a:off x="698231" y="1741698"/>
            <a:ext cx="4669415" cy="3442950"/>
          </a:xfrm>
          <a:prstGeom prst="rect">
            <a:avLst/>
          </a:prstGeom>
        </p:spPr>
      </p:pic>
      <p:pic>
        <p:nvPicPr>
          <p:cNvPr id="19" name="Picture 18">
            <a:extLst>
              <a:ext uri="{FF2B5EF4-FFF2-40B4-BE49-F238E27FC236}">
                <a16:creationId xmlns:a16="http://schemas.microsoft.com/office/drawing/2014/main" id="{3CA0E927-60CA-3FF7-16CE-EFD5E0391260}"/>
              </a:ext>
            </a:extLst>
          </p:cNvPr>
          <p:cNvPicPr>
            <a:picLocks noChangeAspect="1"/>
          </p:cNvPicPr>
          <p:nvPr/>
        </p:nvPicPr>
        <p:blipFill>
          <a:blip r:embed="rId4"/>
          <a:stretch>
            <a:fillRect/>
          </a:stretch>
        </p:blipFill>
        <p:spPr>
          <a:xfrm>
            <a:off x="6483927" y="1741698"/>
            <a:ext cx="4726617" cy="3442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07 / STUDENT PORTAL</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Students submit and track enrollment</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The student does not assign their own section.</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08</a:t>
            </a:r>
            <a:endParaRPr lang="en-US" sz="1000" dirty="0"/>
          </a:p>
        </p:txBody>
      </p:sp>
      <p:sp>
        <p:nvSpPr>
          <p:cNvPr id="8" name="Text 6"/>
          <p:cNvSpPr/>
          <p:nvPr/>
        </p:nvSpPr>
        <p:spPr>
          <a:xfrm>
            <a:off x="658368" y="1847088"/>
            <a:ext cx="4389120" cy="274320"/>
          </a:xfrm>
          <a:prstGeom prst="rect">
            <a:avLst/>
          </a:prstGeom>
          <a:noFill/>
          <a:ln/>
        </p:spPr>
        <p:txBody>
          <a:bodyPr wrap="square" lIns="0" tIns="0" rIns="0" bIns="0" rtlCol="0" anchor="ctr">
            <a:normAutofit/>
          </a:bodyPr>
          <a:lstStyle/>
          <a:p>
            <a:pPr marL="0" indent="0">
              <a:buNone/>
            </a:pPr>
            <a:r>
              <a:rPr lang="en-US" sz="1100" b="1" dirty="0">
                <a:solidFill>
                  <a:srgbClr val="009187"/>
                </a:solidFill>
                <a:latin typeface="Aptos" pitchFamily="34" charset="0"/>
                <a:ea typeface="Aptos" pitchFamily="34" charset="-122"/>
                <a:cs typeface="Aptos" pitchFamily="34" charset="-120"/>
              </a:rPr>
              <a:t>STUDENT SELF-SERVICE</a:t>
            </a:r>
            <a:endParaRPr lang="en-US" sz="1100" dirty="0"/>
          </a:p>
        </p:txBody>
      </p:sp>
      <p:sp>
        <p:nvSpPr>
          <p:cNvPr id="9" name="Text 7"/>
          <p:cNvSpPr/>
          <p:nvPr/>
        </p:nvSpPr>
        <p:spPr>
          <a:xfrm>
            <a:off x="658368" y="2267712"/>
            <a:ext cx="5029200" cy="2331720"/>
          </a:xfrm>
          <a:prstGeom prst="rect">
            <a:avLst/>
          </a:prstGeom>
          <a:noFill/>
          <a:ln/>
        </p:spPr>
        <p:txBody>
          <a:bodyPr wrap="square" lIns="0" tIns="0" rIns="0" bIns="0" rtlCol="0" anchor="t">
            <a:normAutofit/>
          </a:bodyPr>
          <a:lstStyle/>
          <a:p>
            <a:pPr marL="0" indent="0">
              <a:buNone/>
            </a:pPr>
            <a:r>
              <a:rPr lang="en-US" sz="1800" dirty="0">
                <a:solidFill>
                  <a:srgbClr val="132537"/>
                </a:solidFill>
                <a:latin typeface="Aptos" pitchFamily="34" charset="0"/>
                <a:ea typeface="Aptos" pitchFamily="34" charset="-122"/>
                <a:cs typeface="Aptos" pitchFamily="34" charset="-120"/>
              </a:rPr>
              <a:t>Submit student information in a popup form</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See when a request is pending, approved, or rejected</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After approval, view the assigned school section</a:t>
            </a:r>
            <a:endParaRPr lang="en-US" sz="1800" dirty="0"/>
          </a:p>
          <a:p>
            <a:pPr marL="0" indent="0">
              <a:buNone/>
            </a:pPr>
            <a:r>
              <a:rPr lang="en-US" sz="1800" dirty="0">
                <a:solidFill>
                  <a:srgbClr val="132537"/>
                </a:solidFill>
                <a:latin typeface="Aptos" pitchFamily="34" charset="0"/>
                <a:ea typeface="Aptos" pitchFamily="34" charset="-122"/>
                <a:cs typeface="Aptos" pitchFamily="34" charset="-120"/>
              </a:rPr>
              <a:t>Check schedule announcements for that section</a:t>
            </a:r>
            <a:endParaRPr lang="en-US" sz="1800" dirty="0"/>
          </a:p>
        </p:txBody>
      </p:sp>
      <p:sp>
        <p:nvSpPr>
          <p:cNvPr id="10" name="Shape 8"/>
          <p:cNvSpPr/>
          <p:nvPr/>
        </p:nvSpPr>
        <p:spPr>
          <a:xfrm>
            <a:off x="6355080" y="403761"/>
            <a:ext cx="5477256" cy="2802577"/>
          </a:xfrm>
          <a:prstGeom prst="roundRect">
            <a:avLst>
              <a:gd name="adj" fmla="val 2740"/>
            </a:avLst>
          </a:prstGeom>
          <a:solidFill>
            <a:srgbClr val="FFFFFC"/>
          </a:solidFill>
          <a:ln w="10160">
            <a:solidFill>
              <a:srgbClr val="D7DEDC"/>
            </a:solidFill>
            <a:prstDash val="solid"/>
          </a:ln>
        </p:spPr>
      </p:sp>
      <p:pic>
        <p:nvPicPr>
          <p:cNvPr id="11" name="Image 0" descr="C:\Users\SCHOOL PROJECT\Documents\Enrollment-system-main\presentation_assets\slide08-student-enrollment-form.png"/>
          <p:cNvPicPr>
            <a:picLocks noChangeAspect="1"/>
          </p:cNvPicPr>
          <p:nvPr/>
        </p:nvPicPr>
        <p:blipFill>
          <a:blip r:embed="rId3"/>
          <a:srcRect l="1271" t="1005" r="2930" b="35090"/>
          <a:stretch>
            <a:fillRect/>
          </a:stretch>
        </p:blipFill>
        <p:spPr>
          <a:xfrm>
            <a:off x="6504434" y="493776"/>
            <a:ext cx="5163310" cy="2629434"/>
          </a:xfrm>
          <a:prstGeom prst="rect">
            <a:avLst/>
          </a:prstGeom>
        </p:spPr>
      </p:pic>
      <p:sp>
        <p:nvSpPr>
          <p:cNvPr id="12" name="Shape 9"/>
          <p:cNvSpPr/>
          <p:nvPr/>
        </p:nvSpPr>
        <p:spPr>
          <a:xfrm>
            <a:off x="6355080" y="3588991"/>
            <a:ext cx="5477256" cy="2711225"/>
          </a:xfrm>
          <a:prstGeom prst="roundRect">
            <a:avLst>
              <a:gd name="adj" fmla="val 4233"/>
            </a:avLst>
          </a:prstGeom>
          <a:solidFill>
            <a:srgbClr val="FFFFFC"/>
          </a:solidFill>
          <a:ln w="10160">
            <a:solidFill>
              <a:srgbClr val="D7DEDC"/>
            </a:solidFill>
            <a:prstDash val="solid"/>
          </a:ln>
        </p:spPr>
      </p:sp>
      <p:pic>
        <p:nvPicPr>
          <p:cNvPr id="13" name="Image 1" descr="C:\Users\SCHOOL PROJECT\Documents\Enrollment-system-main\presentation_assets\slide08-student-portal.png"/>
          <p:cNvPicPr>
            <a:picLocks noChangeAspect="1"/>
          </p:cNvPicPr>
          <p:nvPr/>
        </p:nvPicPr>
        <p:blipFill>
          <a:blip r:embed="rId4"/>
          <a:srcRect l="-1" r="52407" b="43571"/>
          <a:stretch>
            <a:fillRect/>
          </a:stretch>
        </p:blipFill>
        <p:spPr>
          <a:xfrm>
            <a:off x="6504435" y="3648427"/>
            <a:ext cx="5163310" cy="2551205"/>
          </a:xfrm>
          <a:prstGeom prst="rect">
            <a:avLst/>
          </a:prstGeom>
        </p:spPr>
      </p:pic>
      <p:sp>
        <p:nvSpPr>
          <p:cNvPr id="14" name="Shape 10"/>
          <p:cNvSpPr/>
          <p:nvPr/>
        </p:nvSpPr>
        <p:spPr>
          <a:xfrm>
            <a:off x="7806838" y="3209515"/>
            <a:ext cx="1965960" cy="283464"/>
          </a:xfrm>
          <a:prstGeom prst="roundRect">
            <a:avLst>
              <a:gd name="adj" fmla="val 25806"/>
            </a:avLst>
          </a:prstGeom>
          <a:solidFill>
            <a:srgbClr val="009187"/>
          </a:solidFill>
          <a:ln w="12700">
            <a:solidFill>
              <a:srgbClr val="009187"/>
            </a:solidFill>
            <a:prstDash val="solid"/>
          </a:ln>
        </p:spPr>
        <p:txBody>
          <a:bodyPr/>
          <a:lstStyle/>
          <a:p>
            <a:endParaRPr lang="en-US" dirty="0"/>
          </a:p>
        </p:txBody>
      </p:sp>
      <p:sp>
        <p:nvSpPr>
          <p:cNvPr id="15" name="Text 11"/>
          <p:cNvSpPr/>
          <p:nvPr/>
        </p:nvSpPr>
        <p:spPr>
          <a:xfrm>
            <a:off x="7898278" y="3232375"/>
            <a:ext cx="187452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ENROLLMENT FORM</a:t>
            </a:r>
            <a:endParaRPr lang="en-US" sz="1400" dirty="0"/>
          </a:p>
        </p:txBody>
      </p:sp>
      <p:sp>
        <p:nvSpPr>
          <p:cNvPr id="16" name="Shape 12"/>
          <p:cNvSpPr/>
          <p:nvPr/>
        </p:nvSpPr>
        <p:spPr>
          <a:xfrm>
            <a:off x="8103109" y="6345936"/>
            <a:ext cx="1965960" cy="283464"/>
          </a:xfrm>
          <a:prstGeom prst="roundRect">
            <a:avLst>
              <a:gd name="adj" fmla="val 25806"/>
            </a:avLst>
          </a:prstGeom>
          <a:solidFill>
            <a:srgbClr val="009187"/>
          </a:solidFill>
          <a:ln w="12700">
            <a:solidFill>
              <a:srgbClr val="009187"/>
            </a:solidFill>
            <a:prstDash val="solid"/>
          </a:ln>
        </p:spPr>
      </p:sp>
      <p:sp>
        <p:nvSpPr>
          <p:cNvPr id="17" name="Text 13"/>
          <p:cNvSpPr/>
          <p:nvPr/>
        </p:nvSpPr>
        <p:spPr>
          <a:xfrm>
            <a:off x="8148829" y="6391656"/>
            <a:ext cx="187452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APPROVED STATUS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08 / ADMIN REVIEW</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The administrator approves and assigns a section</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Student requests remain pending until reviewed.</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719072"/>
            <a:ext cx="5202936" cy="3739896"/>
          </a:xfrm>
          <a:prstGeom prst="roundRect">
            <a:avLst>
              <a:gd name="adj" fmla="val 1956"/>
            </a:avLst>
          </a:prstGeom>
          <a:solidFill>
            <a:srgbClr val="FFFFFC"/>
          </a:solidFill>
          <a:ln w="10160">
            <a:solidFill>
              <a:srgbClr val="D7DEDC"/>
            </a:solidFill>
            <a:prstDash val="solid"/>
          </a:ln>
        </p:spPr>
      </p:sp>
      <p:pic>
        <p:nvPicPr>
          <p:cNvPr id="9" name="Image 0" descr="C:\Users\SCHOOL PROJECT\Documents\Enrollment-system-main\presentation_assets\slide09-admin-requests.png"/>
          <p:cNvPicPr>
            <a:picLocks noChangeAspect="1"/>
          </p:cNvPicPr>
          <p:nvPr/>
        </p:nvPicPr>
        <p:blipFill>
          <a:blip r:embed="rId3"/>
          <a:stretch>
            <a:fillRect/>
          </a:stretch>
        </p:blipFill>
        <p:spPr>
          <a:xfrm>
            <a:off x="658368" y="1819656"/>
            <a:ext cx="5074920" cy="3353464"/>
          </a:xfrm>
          <a:prstGeom prst="rect">
            <a:avLst/>
          </a:prstGeom>
        </p:spPr>
      </p:pic>
      <p:sp>
        <p:nvSpPr>
          <p:cNvPr id="10" name="Shape 7"/>
          <p:cNvSpPr/>
          <p:nvPr/>
        </p:nvSpPr>
        <p:spPr>
          <a:xfrm>
            <a:off x="6382512" y="1719072"/>
            <a:ext cx="5202936" cy="3739896"/>
          </a:xfrm>
          <a:prstGeom prst="roundRect">
            <a:avLst>
              <a:gd name="adj" fmla="val 1956"/>
            </a:avLst>
          </a:prstGeom>
          <a:solidFill>
            <a:srgbClr val="FFFFFC"/>
          </a:solidFill>
          <a:ln w="10160">
            <a:solidFill>
              <a:srgbClr val="D7DEDC"/>
            </a:solidFill>
            <a:prstDash val="solid"/>
          </a:ln>
        </p:spPr>
      </p:sp>
      <p:pic>
        <p:nvPicPr>
          <p:cNvPr id="11" name="Image 1" descr="C:\Users\SCHOOL PROJECT\Documents\Enrollment-system-main\presentation_assets\slide09-admin-approval.png"/>
          <p:cNvPicPr>
            <a:picLocks noChangeAspect="1"/>
          </p:cNvPicPr>
          <p:nvPr/>
        </p:nvPicPr>
        <p:blipFill>
          <a:blip r:embed="rId4"/>
          <a:stretch>
            <a:fillRect/>
          </a:stretch>
        </p:blipFill>
        <p:spPr>
          <a:xfrm>
            <a:off x="6446520" y="1819656"/>
            <a:ext cx="5074920" cy="3353464"/>
          </a:xfrm>
          <a:prstGeom prst="rect">
            <a:avLst/>
          </a:prstGeom>
        </p:spPr>
      </p:pic>
      <p:sp>
        <p:nvSpPr>
          <p:cNvPr id="12" name="Shape 8"/>
          <p:cNvSpPr/>
          <p:nvPr/>
        </p:nvSpPr>
        <p:spPr>
          <a:xfrm>
            <a:off x="2194560" y="5486400"/>
            <a:ext cx="1783080" cy="283464"/>
          </a:xfrm>
          <a:prstGeom prst="roundRect">
            <a:avLst>
              <a:gd name="adj" fmla="val 25806"/>
            </a:avLst>
          </a:prstGeom>
          <a:solidFill>
            <a:srgbClr val="009187"/>
          </a:solidFill>
          <a:ln w="12700">
            <a:solidFill>
              <a:srgbClr val="009187"/>
            </a:solidFill>
            <a:prstDash val="solid"/>
          </a:ln>
        </p:spPr>
      </p:sp>
      <p:sp>
        <p:nvSpPr>
          <p:cNvPr id="13" name="Text 9"/>
          <p:cNvSpPr/>
          <p:nvPr/>
        </p:nvSpPr>
        <p:spPr>
          <a:xfrm>
            <a:off x="2240280" y="5500116"/>
            <a:ext cx="1691640"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REQUEST QUEUE</a:t>
            </a:r>
            <a:endParaRPr lang="en-US" sz="900" dirty="0"/>
          </a:p>
        </p:txBody>
      </p:sp>
      <p:sp>
        <p:nvSpPr>
          <p:cNvPr id="14" name="Shape 10"/>
          <p:cNvSpPr/>
          <p:nvPr/>
        </p:nvSpPr>
        <p:spPr>
          <a:xfrm>
            <a:off x="8046720" y="5486400"/>
            <a:ext cx="1874520" cy="283464"/>
          </a:xfrm>
          <a:prstGeom prst="roundRect">
            <a:avLst>
              <a:gd name="adj" fmla="val 25806"/>
            </a:avLst>
          </a:prstGeom>
          <a:solidFill>
            <a:srgbClr val="009187"/>
          </a:solidFill>
          <a:ln w="12700">
            <a:solidFill>
              <a:srgbClr val="009187"/>
            </a:solidFill>
            <a:prstDash val="solid"/>
          </a:ln>
        </p:spPr>
      </p:sp>
      <p:sp>
        <p:nvSpPr>
          <p:cNvPr id="15" name="Text 11"/>
          <p:cNvSpPr/>
          <p:nvPr/>
        </p:nvSpPr>
        <p:spPr>
          <a:xfrm>
            <a:off x="8092440" y="5500116"/>
            <a:ext cx="1783080" cy="23774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REVIEW + ASSIGN</a:t>
            </a:r>
            <a:endParaRPr lang="en-US" sz="900" dirty="0"/>
          </a:p>
        </p:txBody>
      </p:sp>
      <p:sp>
        <p:nvSpPr>
          <p:cNvPr id="16" name="Text 12"/>
          <p:cNvSpPr/>
          <p:nvPr/>
        </p:nvSpPr>
        <p:spPr>
          <a:xfrm>
            <a:off x="1051560" y="5925312"/>
            <a:ext cx="10058400" cy="256032"/>
          </a:xfrm>
          <a:prstGeom prst="rect">
            <a:avLst/>
          </a:prstGeom>
          <a:noFill/>
          <a:ln/>
        </p:spPr>
        <p:txBody>
          <a:bodyPr wrap="square" lIns="0" tIns="0" rIns="0" bIns="0" rtlCol="0" anchor="ctr">
            <a:normAutofit/>
          </a:bodyPr>
          <a:lstStyle/>
          <a:p>
            <a:pPr marL="0" indent="0" algn="ctr">
              <a:buNone/>
            </a:pPr>
            <a:r>
              <a:rPr lang="en-US" sz="1300" dirty="0">
                <a:solidFill>
                  <a:srgbClr val="5F707C"/>
                </a:solidFill>
                <a:latin typeface="Aptos" pitchFamily="34" charset="0"/>
                <a:ea typeface="Aptos" pitchFamily="34" charset="-122"/>
                <a:cs typeface="Aptos" pitchFamily="34" charset="-120"/>
              </a:rPr>
              <a:t>Approval creates the student record and links it to the account.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09 / SCHEDULES</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Announcements are targeted to a school section</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Students only receive the schedule for their assigned section.</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10</a:t>
            </a:r>
            <a:endParaRPr lang="en-US" sz="1000" dirty="0"/>
          </a:p>
        </p:txBody>
      </p:sp>
      <p:sp>
        <p:nvSpPr>
          <p:cNvPr id="8" name="Shape 6"/>
          <p:cNvSpPr/>
          <p:nvPr/>
        </p:nvSpPr>
        <p:spPr>
          <a:xfrm>
            <a:off x="594360" y="1691640"/>
            <a:ext cx="5202936" cy="3739896"/>
          </a:xfrm>
          <a:prstGeom prst="roundRect">
            <a:avLst>
              <a:gd name="adj" fmla="val 1956"/>
            </a:avLst>
          </a:prstGeom>
          <a:solidFill>
            <a:srgbClr val="FFFFFC"/>
          </a:solidFill>
          <a:ln w="10160">
            <a:solidFill>
              <a:srgbClr val="D7DEDC"/>
            </a:solidFill>
            <a:prstDash val="solid"/>
          </a:ln>
        </p:spPr>
      </p:sp>
      <p:pic>
        <p:nvPicPr>
          <p:cNvPr id="9" name="Image 0" descr="C:\Users\SCHOOL PROJECT\Documents\Enrollment-system-main\presentation_assets\slide10-admin-announcements.png"/>
          <p:cNvPicPr>
            <a:picLocks noChangeAspect="1"/>
          </p:cNvPicPr>
          <p:nvPr/>
        </p:nvPicPr>
        <p:blipFill>
          <a:blip r:embed="rId3"/>
          <a:stretch>
            <a:fillRect/>
          </a:stretch>
        </p:blipFill>
        <p:spPr>
          <a:xfrm>
            <a:off x="1957521" y="1755648"/>
            <a:ext cx="2476614" cy="3611880"/>
          </a:xfrm>
          <a:prstGeom prst="rect">
            <a:avLst/>
          </a:prstGeom>
        </p:spPr>
      </p:pic>
      <p:sp>
        <p:nvSpPr>
          <p:cNvPr id="10" name="Shape 7"/>
          <p:cNvSpPr/>
          <p:nvPr/>
        </p:nvSpPr>
        <p:spPr>
          <a:xfrm>
            <a:off x="6382512" y="1691640"/>
            <a:ext cx="5202936" cy="3739896"/>
          </a:xfrm>
          <a:prstGeom prst="roundRect">
            <a:avLst>
              <a:gd name="adj" fmla="val 1956"/>
            </a:avLst>
          </a:prstGeom>
          <a:solidFill>
            <a:srgbClr val="FFFFFC"/>
          </a:solidFill>
          <a:ln w="10160">
            <a:solidFill>
              <a:srgbClr val="D7DEDC"/>
            </a:solidFill>
            <a:prstDash val="solid"/>
          </a:ln>
        </p:spPr>
      </p:sp>
      <p:pic>
        <p:nvPicPr>
          <p:cNvPr id="11" name="Image 1" descr="C:\Users\SCHOOL PROJECT\Documents\Enrollment-system-main\presentation_assets\slide10-student-schedule.png"/>
          <p:cNvPicPr>
            <a:picLocks noChangeAspect="1"/>
          </p:cNvPicPr>
          <p:nvPr/>
        </p:nvPicPr>
        <p:blipFill>
          <a:blip r:embed="rId4"/>
          <a:stretch>
            <a:fillRect/>
          </a:stretch>
        </p:blipFill>
        <p:spPr>
          <a:xfrm>
            <a:off x="6446520" y="1755648"/>
            <a:ext cx="5074920" cy="3391853"/>
          </a:xfrm>
          <a:prstGeom prst="rect">
            <a:avLst/>
          </a:prstGeom>
        </p:spPr>
      </p:pic>
      <p:sp>
        <p:nvSpPr>
          <p:cNvPr id="12" name="Shape 8"/>
          <p:cNvSpPr/>
          <p:nvPr/>
        </p:nvSpPr>
        <p:spPr>
          <a:xfrm>
            <a:off x="2212848" y="5468112"/>
            <a:ext cx="1691640" cy="283464"/>
          </a:xfrm>
          <a:prstGeom prst="roundRect">
            <a:avLst>
              <a:gd name="adj" fmla="val 25806"/>
            </a:avLst>
          </a:prstGeom>
          <a:solidFill>
            <a:srgbClr val="009187"/>
          </a:solidFill>
          <a:ln w="12700">
            <a:solidFill>
              <a:srgbClr val="009187"/>
            </a:solidFill>
            <a:prstDash val="solid"/>
          </a:ln>
        </p:spPr>
      </p:sp>
      <p:sp>
        <p:nvSpPr>
          <p:cNvPr id="13" name="Text 9"/>
          <p:cNvSpPr/>
          <p:nvPr/>
        </p:nvSpPr>
        <p:spPr>
          <a:xfrm>
            <a:off x="2258568" y="5481828"/>
            <a:ext cx="160020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ADMIN POSTS</a:t>
            </a:r>
            <a:endParaRPr lang="en-US" sz="1400" dirty="0"/>
          </a:p>
        </p:txBody>
      </p:sp>
      <p:sp>
        <p:nvSpPr>
          <p:cNvPr id="14" name="Shape 10"/>
          <p:cNvSpPr/>
          <p:nvPr/>
        </p:nvSpPr>
        <p:spPr>
          <a:xfrm>
            <a:off x="8101584" y="5468112"/>
            <a:ext cx="1691640" cy="283464"/>
          </a:xfrm>
          <a:prstGeom prst="roundRect">
            <a:avLst>
              <a:gd name="adj" fmla="val 25806"/>
            </a:avLst>
          </a:prstGeom>
          <a:solidFill>
            <a:srgbClr val="009187"/>
          </a:solidFill>
          <a:ln w="12700">
            <a:solidFill>
              <a:srgbClr val="009187"/>
            </a:solidFill>
            <a:prstDash val="solid"/>
          </a:ln>
        </p:spPr>
      </p:sp>
      <p:sp>
        <p:nvSpPr>
          <p:cNvPr id="15" name="Text 11"/>
          <p:cNvSpPr/>
          <p:nvPr/>
        </p:nvSpPr>
        <p:spPr>
          <a:xfrm>
            <a:off x="8147304" y="5481828"/>
            <a:ext cx="160020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STUDENT VIEW</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10 / INTERACTION</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Clear feedback during important actions</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Section updates show progress; Admin logout asks for confirmation.</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11</a:t>
            </a:r>
            <a:endParaRPr lang="en-US" sz="1000" dirty="0"/>
          </a:p>
        </p:txBody>
      </p:sp>
      <p:sp>
        <p:nvSpPr>
          <p:cNvPr id="8" name="Shape 6"/>
          <p:cNvSpPr/>
          <p:nvPr/>
        </p:nvSpPr>
        <p:spPr>
          <a:xfrm>
            <a:off x="594360" y="1719072"/>
            <a:ext cx="5202936" cy="3511296"/>
          </a:xfrm>
          <a:prstGeom prst="roundRect">
            <a:avLst>
              <a:gd name="adj" fmla="val 2083"/>
            </a:avLst>
          </a:prstGeom>
          <a:solidFill>
            <a:srgbClr val="FFFFFC"/>
          </a:solidFill>
          <a:ln w="10160">
            <a:solidFill>
              <a:srgbClr val="D7DEDC"/>
            </a:solidFill>
            <a:prstDash val="solid"/>
          </a:ln>
        </p:spPr>
      </p:sp>
      <p:pic>
        <p:nvPicPr>
          <p:cNvPr id="9" name="Image 0" descr="C:\Users\SCHOOL PROJECT\Documents\Enrollment-system-main\presentation_assets\slide06-admin-section-loading.png"/>
          <p:cNvPicPr>
            <a:picLocks noChangeAspect="1"/>
          </p:cNvPicPr>
          <p:nvPr/>
        </p:nvPicPr>
        <p:blipFill>
          <a:blip r:embed="rId3"/>
          <a:stretch>
            <a:fillRect/>
          </a:stretch>
        </p:blipFill>
        <p:spPr>
          <a:xfrm>
            <a:off x="658368" y="1890620"/>
            <a:ext cx="5074920" cy="3275740"/>
          </a:xfrm>
          <a:prstGeom prst="rect">
            <a:avLst/>
          </a:prstGeom>
        </p:spPr>
      </p:pic>
      <p:sp>
        <p:nvSpPr>
          <p:cNvPr id="10" name="Shape 7"/>
          <p:cNvSpPr/>
          <p:nvPr/>
        </p:nvSpPr>
        <p:spPr>
          <a:xfrm>
            <a:off x="6382512" y="1719072"/>
            <a:ext cx="5202936" cy="3511296"/>
          </a:xfrm>
          <a:prstGeom prst="roundRect">
            <a:avLst>
              <a:gd name="adj" fmla="val 2083"/>
            </a:avLst>
          </a:prstGeom>
          <a:solidFill>
            <a:srgbClr val="FFFFFC"/>
          </a:solidFill>
          <a:ln w="10160">
            <a:solidFill>
              <a:srgbClr val="D7DEDC"/>
            </a:solidFill>
            <a:prstDash val="solid"/>
          </a:ln>
        </p:spPr>
      </p:sp>
      <p:pic>
        <p:nvPicPr>
          <p:cNvPr id="11" name="Image 1" descr="C:\Users\SCHOOL PROJECT\Documents\Enrollment-system-main\presentation_assets\slide11-admin-logout.png"/>
          <p:cNvPicPr>
            <a:picLocks noChangeAspect="1"/>
          </p:cNvPicPr>
          <p:nvPr/>
        </p:nvPicPr>
        <p:blipFill>
          <a:blip r:embed="rId4"/>
          <a:stretch>
            <a:fillRect/>
          </a:stretch>
        </p:blipFill>
        <p:spPr>
          <a:xfrm>
            <a:off x="6555179" y="1783080"/>
            <a:ext cx="4947973" cy="3383280"/>
          </a:xfrm>
          <a:prstGeom prst="rect">
            <a:avLst/>
          </a:prstGeom>
        </p:spPr>
      </p:pic>
      <p:sp>
        <p:nvSpPr>
          <p:cNvPr id="12" name="Shape 8"/>
          <p:cNvSpPr/>
          <p:nvPr/>
        </p:nvSpPr>
        <p:spPr>
          <a:xfrm>
            <a:off x="2121408" y="5358384"/>
            <a:ext cx="1874520" cy="402336"/>
          </a:xfrm>
          <a:prstGeom prst="roundRect">
            <a:avLst>
              <a:gd name="adj" fmla="val 25806"/>
            </a:avLst>
          </a:prstGeom>
          <a:solidFill>
            <a:srgbClr val="009187"/>
          </a:solidFill>
          <a:ln w="12700">
            <a:solidFill>
              <a:srgbClr val="009187"/>
            </a:solidFill>
            <a:prstDash val="solid"/>
          </a:ln>
        </p:spPr>
      </p:sp>
      <p:sp>
        <p:nvSpPr>
          <p:cNvPr id="13" name="Text 9"/>
          <p:cNvSpPr/>
          <p:nvPr/>
        </p:nvSpPr>
        <p:spPr>
          <a:xfrm>
            <a:off x="2167128" y="5440155"/>
            <a:ext cx="178308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SECTION LOADING</a:t>
            </a:r>
            <a:endParaRPr lang="en-US" sz="1400" dirty="0"/>
          </a:p>
        </p:txBody>
      </p:sp>
      <p:sp>
        <p:nvSpPr>
          <p:cNvPr id="14" name="Shape 10"/>
          <p:cNvSpPr/>
          <p:nvPr/>
        </p:nvSpPr>
        <p:spPr>
          <a:xfrm>
            <a:off x="7882128" y="5358384"/>
            <a:ext cx="2194560" cy="402336"/>
          </a:xfrm>
          <a:prstGeom prst="roundRect">
            <a:avLst>
              <a:gd name="adj" fmla="val 25806"/>
            </a:avLst>
          </a:prstGeom>
          <a:solidFill>
            <a:srgbClr val="009187"/>
          </a:solidFill>
          <a:ln w="12700">
            <a:solidFill>
              <a:srgbClr val="009187"/>
            </a:solidFill>
            <a:prstDash val="solid"/>
          </a:ln>
        </p:spPr>
      </p:sp>
      <p:sp>
        <p:nvSpPr>
          <p:cNvPr id="15" name="Text 11"/>
          <p:cNvSpPr/>
          <p:nvPr/>
        </p:nvSpPr>
        <p:spPr>
          <a:xfrm>
            <a:off x="7973568" y="5440680"/>
            <a:ext cx="2103120" cy="237744"/>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LOGOUT CONFIRMATION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11 / DEMONSTRATION</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 complete student-to-admin workflow</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Show the handoff from enrollment form to approved section schedule.</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12</a:t>
            </a:r>
            <a:endParaRPr lang="en-US" sz="1000" dirty="0"/>
          </a:p>
        </p:txBody>
      </p:sp>
      <p:sp>
        <p:nvSpPr>
          <p:cNvPr id="8" name="Shape 6"/>
          <p:cNvSpPr/>
          <p:nvPr/>
        </p:nvSpPr>
        <p:spPr>
          <a:xfrm>
            <a:off x="640080" y="1783080"/>
            <a:ext cx="2560320" cy="1115568"/>
          </a:xfrm>
          <a:prstGeom prst="roundRect">
            <a:avLst>
              <a:gd name="adj" fmla="val 6557"/>
            </a:avLst>
          </a:prstGeom>
          <a:solidFill>
            <a:srgbClr val="FFFFFC"/>
          </a:solidFill>
          <a:ln w="10160">
            <a:solidFill>
              <a:srgbClr val="D7DEDC"/>
            </a:solidFill>
            <a:prstDash val="solid"/>
          </a:ln>
        </p:spPr>
      </p:sp>
      <p:sp>
        <p:nvSpPr>
          <p:cNvPr id="9" name="Text 7"/>
          <p:cNvSpPr/>
          <p:nvPr/>
        </p:nvSpPr>
        <p:spPr>
          <a:xfrm>
            <a:off x="84124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01</a:t>
            </a:r>
            <a:endParaRPr lang="en-US" sz="2200" dirty="0"/>
          </a:p>
        </p:txBody>
      </p:sp>
      <p:sp>
        <p:nvSpPr>
          <p:cNvPr id="10" name="Text 8"/>
          <p:cNvSpPr/>
          <p:nvPr/>
        </p:nvSpPr>
        <p:spPr>
          <a:xfrm>
            <a:off x="138988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SIGN UP</a:t>
            </a:r>
            <a:endParaRPr lang="en-US" sz="1400" dirty="0"/>
          </a:p>
        </p:txBody>
      </p:sp>
      <p:sp>
        <p:nvSpPr>
          <p:cNvPr id="11" name="Text 9"/>
          <p:cNvSpPr/>
          <p:nvPr/>
        </p:nvSpPr>
        <p:spPr>
          <a:xfrm>
            <a:off x="138988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Student creates account</a:t>
            </a:r>
            <a:endParaRPr lang="en-US" sz="1000" dirty="0"/>
          </a:p>
        </p:txBody>
      </p:sp>
      <p:sp>
        <p:nvSpPr>
          <p:cNvPr id="12" name="Shape 10"/>
          <p:cNvSpPr/>
          <p:nvPr/>
        </p:nvSpPr>
        <p:spPr>
          <a:xfrm>
            <a:off x="3520440" y="1783080"/>
            <a:ext cx="2560320" cy="1115568"/>
          </a:xfrm>
          <a:prstGeom prst="roundRect">
            <a:avLst>
              <a:gd name="adj" fmla="val 6557"/>
            </a:avLst>
          </a:prstGeom>
          <a:solidFill>
            <a:srgbClr val="FFFFFC"/>
          </a:solidFill>
          <a:ln w="10160">
            <a:solidFill>
              <a:srgbClr val="D7DEDC"/>
            </a:solidFill>
            <a:prstDash val="solid"/>
          </a:ln>
        </p:spPr>
      </p:sp>
      <p:sp>
        <p:nvSpPr>
          <p:cNvPr id="13" name="Text 11"/>
          <p:cNvSpPr/>
          <p:nvPr/>
        </p:nvSpPr>
        <p:spPr>
          <a:xfrm>
            <a:off x="372160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02</a:t>
            </a:r>
            <a:endParaRPr lang="en-US" sz="2200" dirty="0"/>
          </a:p>
        </p:txBody>
      </p:sp>
      <p:sp>
        <p:nvSpPr>
          <p:cNvPr id="14" name="Text 12"/>
          <p:cNvSpPr/>
          <p:nvPr/>
        </p:nvSpPr>
        <p:spPr>
          <a:xfrm>
            <a:off x="427024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SUBMIT</a:t>
            </a:r>
            <a:endParaRPr lang="en-US" sz="1400" dirty="0"/>
          </a:p>
        </p:txBody>
      </p:sp>
      <p:sp>
        <p:nvSpPr>
          <p:cNvPr id="15" name="Text 13"/>
          <p:cNvSpPr/>
          <p:nvPr/>
        </p:nvSpPr>
        <p:spPr>
          <a:xfrm>
            <a:off x="427024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Complete enrollment form</a:t>
            </a:r>
            <a:endParaRPr lang="en-US" sz="1000" dirty="0"/>
          </a:p>
        </p:txBody>
      </p:sp>
      <p:sp>
        <p:nvSpPr>
          <p:cNvPr id="16" name="Shape 14"/>
          <p:cNvSpPr/>
          <p:nvPr/>
        </p:nvSpPr>
        <p:spPr>
          <a:xfrm>
            <a:off x="6400800" y="1783080"/>
            <a:ext cx="2560320" cy="1115568"/>
          </a:xfrm>
          <a:prstGeom prst="roundRect">
            <a:avLst>
              <a:gd name="adj" fmla="val 6557"/>
            </a:avLst>
          </a:prstGeom>
          <a:solidFill>
            <a:srgbClr val="FFFFFC"/>
          </a:solidFill>
          <a:ln w="10160">
            <a:solidFill>
              <a:srgbClr val="D7DEDC"/>
            </a:solidFill>
            <a:prstDash val="solid"/>
          </a:ln>
        </p:spPr>
      </p:sp>
      <p:sp>
        <p:nvSpPr>
          <p:cNvPr id="17" name="Text 15"/>
          <p:cNvSpPr/>
          <p:nvPr/>
        </p:nvSpPr>
        <p:spPr>
          <a:xfrm>
            <a:off x="660196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03</a:t>
            </a:r>
            <a:endParaRPr lang="en-US" sz="2200" dirty="0"/>
          </a:p>
        </p:txBody>
      </p:sp>
      <p:sp>
        <p:nvSpPr>
          <p:cNvPr id="18" name="Text 16"/>
          <p:cNvSpPr/>
          <p:nvPr/>
        </p:nvSpPr>
        <p:spPr>
          <a:xfrm>
            <a:off x="715060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REVIEW</a:t>
            </a:r>
            <a:endParaRPr lang="en-US" sz="1400" dirty="0"/>
          </a:p>
        </p:txBody>
      </p:sp>
      <p:sp>
        <p:nvSpPr>
          <p:cNvPr id="19" name="Text 17"/>
          <p:cNvSpPr/>
          <p:nvPr/>
        </p:nvSpPr>
        <p:spPr>
          <a:xfrm>
            <a:off x="715060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Admin assigns section</a:t>
            </a:r>
            <a:endParaRPr lang="en-US" sz="1000" dirty="0"/>
          </a:p>
        </p:txBody>
      </p:sp>
      <p:sp>
        <p:nvSpPr>
          <p:cNvPr id="20" name="Shape 18"/>
          <p:cNvSpPr/>
          <p:nvPr/>
        </p:nvSpPr>
        <p:spPr>
          <a:xfrm>
            <a:off x="9281160" y="1783080"/>
            <a:ext cx="2560320" cy="1115568"/>
          </a:xfrm>
          <a:prstGeom prst="roundRect">
            <a:avLst>
              <a:gd name="adj" fmla="val 6557"/>
            </a:avLst>
          </a:prstGeom>
          <a:solidFill>
            <a:srgbClr val="FFFFFC"/>
          </a:solidFill>
          <a:ln w="10160">
            <a:solidFill>
              <a:srgbClr val="D7DEDC"/>
            </a:solidFill>
            <a:prstDash val="solid"/>
          </a:ln>
        </p:spPr>
      </p:sp>
      <p:sp>
        <p:nvSpPr>
          <p:cNvPr id="21" name="Text 19"/>
          <p:cNvSpPr/>
          <p:nvPr/>
        </p:nvSpPr>
        <p:spPr>
          <a:xfrm>
            <a:off x="9482328" y="1947672"/>
            <a:ext cx="475488" cy="329184"/>
          </a:xfrm>
          <a:prstGeom prst="rect">
            <a:avLst/>
          </a:prstGeom>
          <a:noFill/>
          <a:ln/>
        </p:spPr>
        <p:txBody>
          <a:bodyPr wrap="square" lIns="0" tIns="0" rIns="0" bIns="0" rtlCol="0" anchor="ctr">
            <a:normAutofit/>
          </a:bodyPr>
          <a:lstStyle/>
          <a:p>
            <a:pPr marL="0" indent="0">
              <a:buNone/>
            </a:pPr>
            <a:r>
              <a:rPr lang="en-US" sz="2200" b="1" dirty="0">
                <a:solidFill>
                  <a:srgbClr val="D96952"/>
                </a:solidFill>
                <a:latin typeface="Aptos" pitchFamily="34" charset="0"/>
                <a:ea typeface="Aptos" pitchFamily="34" charset="-122"/>
                <a:cs typeface="Aptos" pitchFamily="34" charset="-120"/>
              </a:rPr>
              <a:t>04</a:t>
            </a:r>
            <a:endParaRPr lang="en-US" sz="2200" dirty="0"/>
          </a:p>
        </p:txBody>
      </p:sp>
      <p:sp>
        <p:nvSpPr>
          <p:cNvPr id="22" name="Text 20"/>
          <p:cNvSpPr/>
          <p:nvPr/>
        </p:nvSpPr>
        <p:spPr>
          <a:xfrm>
            <a:off x="10030968" y="1984248"/>
            <a:ext cx="1572768" cy="228600"/>
          </a:xfrm>
          <a:prstGeom prst="rect">
            <a:avLst/>
          </a:prstGeom>
          <a:noFill/>
          <a:ln/>
        </p:spPr>
        <p:txBody>
          <a:bodyPr wrap="square" lIns="0" tIns="0" rIns="0" bIns="0" rtlCol="0" anchor="ctr">
            <a:normAutofit/>
          </a:bodyPr>
          <a:lstStyle/>
          <a:p>
            <a:pPr marL="0" indent="0">
              <a:buNone/>
            </a:pPr>
            <a:r>
              <a:rPr lang="en-US" sz="1400" b="1" dirty="0">
                <a:solidFill>
                  <a:srgbClr val="132537"/>
                </a:solidFill>
                <a:latin typeface="Aptos" pitchFamily="34" charset="0"/>
                <a:ea typeface="Aptos" pitchFamily="34" charset="-122"/>
                <a:cs typeface="Aptos" pitchFamily="34" charset="-120"/>
              </a:rPr>
              <a:t>ANNOUNCE</a:t>
            </a:r>
            <a:endParaRPr lang="en-US" sz="1400" dirty="0"/>
          </a:p>
        </p:txBody>
      </p:sp>
      <p:sp>
        <p:nvSpPr>
          <p:cNvPr id="23" name="Text 21"/>
          <p:cNvSpPr/>
          <p:nvPr/>
        </p:nvSpPr>
        <p:spPr>
          <a:xfrm>
            <a:off x="10030968" y="2340864"/>
            <a:ext cx="1600200" cy="365760"/>
          </a:xfrm>
          <a:prstGeom prst="rect">
            <a:avLst/>
          </a:prstGeom>
          <a:noFill/>
          <a:ln/>
        </p:spPr>
        <p:txBody>
          <a:bodyPr wrap="square" lIns="0" tIns="0" rIns="0" bIns="0" rtlCol="0" anchor="ctr">
            <a:normAutofit/>
          </a:bodyPr>
          <a:lstStyle/>
          <a:p>
            <a:pPr marL="0" indent="0">
              <a:buNone/>
            </a:pPr>
            <a:r>
              <a:rPr lang="en-US" sz="1000" dirty="0">
                <a:solidFill>
                  <a:srgbClr val="5F707C"/>
                </a:solidFill>
                <a:latin typeface="Aptos" pitchFamily="34" charset="0"/>
                <a:ea typeface="Aptos" pitchFamily="34" charset="-122"/>
                <a:cs typeface="Aptos" pitchFamily="34" charset="-120"/>
              </a:rPr>
              <a:t>Publish section schedule</a:t>
            </a:r>
            <a:endParaRPr lang="en-US" sz="1000" dirty="0"/>
          </a:p>
        </p:txBody>
      </p:sp>
      <p:sp>
        <p:nvSpPr>
          <p:cNvPr id="24" name="Text 22"/>
          <p:cNvSpPr/>
          <p:nvPr/>
        </p:nvSpPr>
        <p:spPr>
          <a:xfrm>
            <a:off x="822960" y="3273552"/>
            <a:ext cx="10561320" cy="475488"/>
          </a:xfrm>
          <a:prstGeom prst="rect">
            <a:avLst/>
          </a:prstGeom>
          <a:noFill/>
          <a:ln/>
        </p:spPr>
        <p:txBody>
          <a:bodyPr wrap="square" lIns="0" tIns="0" rIns="0" bIns="0" rtlCol="0" anchor="ctr">
            <a:normAutofit/>
          </a:bodyPr>
          <a:lstStyle/>
          <a:p>
            <a:pPr marL="0" indent="0" algn="ctr">
              <a:buNone/>
            </a:pPr>
            <a:r>
              <a:rPr lang="en-US" sz="1400" b="1" dirty="0">
                <a:solidFill>
                  <a:srgbClr val="009187"/>
                </a:solidFill>
                <a:latin typeface="Aptos" pitchFamily="34" charset="0"/>
                <a:ea typeface="Aptos" pitchFamily="34" charset="-122"/>
                <a:cs typeface="Aptos" pitchFamily="34" charset="-120"/>
              </a:rPr>
              <a:t>Student signup &gt; Enrollment request &gt; Admin review &gt; Section assignment &gt; Section announcement</a:t>
            </a:r>
            <a:endParaRPr lang="en-US" sz="1400" dirty="0"/>
          </a:p>
        </p:txBody>
      </p:sp>
      <p:sp>
        <p:nvSpPr>
          <p:cNvPr id="25" name="Shape 23"/>
          <p:cNvSpPr/>
          <p:nvPr/>
        </p:nvSpPr>
        <p:spPr>
          <a:xfrm>
            <a:off x="3794760" y="3867912"/>
            <a:ext cx="4956048" cy="2807208"/>
          </a:xfrm>
          <a:prstGeom prst="roundRect">
            <a:avLst>
              <a:gd name="adj" fmla="val 4233"/>
            </a:avLst>
          </a:prstGeom>
          <a:solidFill>
            <a:srgbClr val="FFFFFC"/>
          </a:solidFill>
          <a:ln w="10160">
            <a:solidFill>
              <a:srgbClr val="D7DEDC"/>
            </a:solidFill>
            <a:prstDash val="solid"/>
          </a:ln>
        </p:spPr>
      </p:sp>
      <p:pic>
        <p:nvPicPr>
          <p:cNvPr id="28" name="Picture 27">
            <a:extLst>
              <a:ext uri="{FF2B5EF4-FFF2-40B4-BE49-F238E27FC236}">
                <a16:creationId xmlns:a16="http://schemas.microsoft.com/office/drawing/2014/main" id="{DEDD8EB9-DD85-E5B2-55D6-378A482FF704}"/>
              </a:ext>
            </a:extLst>
          </p:cNvPr>
          <p:cNvPicPr>
            <a:picLocks noChangeAspect="1"/>
          </p:cNvPicPr>
          <p:nvPr/>
        </p:nvPicPr>
        <p:blipFill>
          <a:blip r:embed="rId3"/>
          <a:stretch>
            <a:fillRect/>
          </a:stretch>
        </p:blipFill>
        <p:spPr>
          <a:xfrm>
            <a:off x="3942608" y="3931920"/>
            <a:ext cx="4689328" cy="2743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3"/>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530352" y="292608"/>
            <a:ext cx="9601200" cy="219456"/>
          </a:xfrm>
          <a:prstGeom prst="rect">
            <a:avLst/>
          </a:prstGeom>
          <a:noFill/>
          <a:ln/>
        </p:spPr>
        <p:txBody>
          <a:bodyPr wrap="square" lIns="0" tIns="0" rIns="0" bIns="0" rtlCol="0" anchor="ctr">
            <a:normAutofit/>
          </a:bodyPr>
          <a:lstStyle/>
          <a:p>
            <a:pPr marL="0" indent="0">
              <a:buNone/>
            </a:pPr>
            <a:r>
              <a:rPr lang="en-US" sz="1000" b="1" dirty="0">
                <a:solidFill>
                  <a:srgbClr val="009187"/>
                </a:solidFill>
                <a:latin typeface="Aptos" pitchFamily="34" charset="0"/>
                <a:ea typeface="Aptos" pitchFamily="34" charset="-122"/>
                <a:cs typeface="Aptos" pitchFamily="34" charset="-120"/>
              </a:rPr>
              <a:t>12 / ENGINEERING</a:t>
            </a:r>
            <a:endParaRPr lang="en-US" sz="1000" dirty="0"/>
          </a:p>
        </p:txBody>
      </p:sp>
      <p:sp>
        <p:nvSpPr>
          <p:cNvPr id="4" name="Text 2"/>
          <p:cNvSpPr/>
          <p:nvPr/>
        </p:nvSpPr>
        <p:spPr>
          <a:xfrm>
            <a:off x="530352" y="658368"/>
            <a:ext cx="10972800" cy="530352"/>
          </a:xfrm>
          <a:prstGeom prst="rect">
            <a:avLst/>
          </a:prstGeom>
          <a:noFill/>
          <a:ln/>
        </p:spPr>
        <p:txBody>
          <a:bodyPr wrap="square" lIns="0" tIns="0" rIns="0" bIns="0" rtlCol="0" anchor="ctr">
            <a:normAutofit/>
          </a:bodyPr>
          <a:lstStyle/>
          <a:p>
            <a:pPr marL="0" indent="0">
              <a:buNone/>
            </a:pPr>
            <a:r>
              <a:rPr lang="en-US" sz="2700" b="1" dirty="0">
                <a:solidFill>
                  <a:srgbClr val="132537"/>
                </a:solidFill>
                <a:latin typeface="Aptos Display" pitchFamily="34" charset="0"/>
                <a:ea typeface="Aptos Display" pitchFamily="34" charset="-122"/>
                <a:cs typeface="Aptos Display" pitchFamily="34" charset="-120"/>
              </a:rPr>
              <a:t>Access and data flow have clear ownership</a:t>
            </a:r>
            <a:endParaRPr lang="en-US" sz="2700" dirty="0"/>
          </a:p>
        </p:txBody>
      </p:sp>
      <p:sp>
        <p:nvSpPr>
          <p:cNvPr id="5" name="Text 3"/>
          <p:cNvSpPr/>
          <p:nvPr/>
        </p:nvSpPr>
        <p:spPr>
          <a:xfrm>
            <a:off x="530352" y="1197864"/>
            <a:ext cx="10972800" cy="292608"/>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Validation and feedback are handled at both browser and API boundaries.</a:t>
            </a:r>
            <a:endParaRPr lang="en-US" sz="1300" dirty="0"/>
          </a:p>
        </p:txBody>
      </p:sp>
      <p:sp>
        <p:nvSpPr>
          <p:cNvPr id="6" name="Text 4"/>
          <p:cNvSpPr/>
          <p:nvPr/>
        </p:nvSpPr>
        <p:spPr>
          <a:xfrm>
            <a:off x="530352" y="6510528"/>
            <a:ext cx="7772400" cy="164592"/>
          </a:xfrm>
          <a:prstGeom prst="rect">
            <a:avLst/>
          </a:prstGeom>
          <a:noFill/>
          <a:ln/>
        </p:spPr>
        <p:txBody>
          <a:bodyPr wrap="square" lIns="0" tIns="0" rIns="0" bIns="0" rtlCol="0" anchor="ctr">
            <a:normAutofit/>
          </a:bodyPr>
          <a:lstStyle/>
          <a:p>
            <a:pPr marL="0" indent="0">
              <a:buNone/>
            </a:pPr>
            <a:r>
              <a:rPr lang="en-US" sz="800" b="1" dirty="0">
                <a:solidFill>
                  <a:srgbClr val="5F707C"/>
                </a:solidFill>
                <a:latin typeface="Aptos" pitchFamily="34" charset="0"/>
                <a:ea typeface="Aptos" pitchFamily="34" charset="-122"/>
                <a:cs typeface="Aptos" pitchFamily="34" charset="-120"/>
              </a:rPr>
              <a:t>SCHOOL ENROLLMENT &amp; GRADING MANAGEMENT SYSTEM</a:t>
            </a:r>
            <a:endParaRPr lang="en-US" sz="800" dirty="0"/>
          </a:p>
        </p:txBody>
      </p:sp>
      <p:sp>
        <p:nvSpPr>
          <p:cNvPr id="7" name="Text 5"/>
          <p:cNvSpPr/>
          <p:nvPr/>
        </p:nvSpPr>
        <p:spPr>
          <a:xfrm>
            <a:off x="11210544" y="6455664"/>
            <a:ext cx="457200" cy="228600"/>
          </a:xfrm>
          <a:prstGeom prst="rect">
            <a:avLst/>
          </a:prstGeom>
          <a:noFill/>
          <a:ln/>
        </p:spPr>
        <p:txBody>
          <a:bodyPr wrap="square" lIns="0" tIns="0" rIns="0" bIns="0" rtlCol="0" anchor="ctr">
            <a:normAutofit/>
          </a:bodyPr>
          <a:lstStyle/>
          <a:p>
            <a:pPr marL="0" indent="0" algn="r">
              <a:buNone/>
            </a:pPr>
            <a:r>
              <a:rPr lang="en-US" sz="1000" b="1" dirty="0">
                <a:solidFill>
                  <a:srgbClr val="009187"/>
                </a:solidFill>
                <a:latin typeface="Aptos" pitchFamily="34" charset="0"/>
                <a:ea typeface="Aptos" pitchFamily="34" charset="-122"/>
                <a:cs typeface="Aptos" pitchFamily="34" charset="-120"/>
              </a:rPr>
              <a:t>13</a:t>
            </a:r>
            <a:endParaRPr lang="en-US" sz="1000" dirty="0"/>
          </a:p>
        </p:txBody>
      </p:sp>
      <p:sp>
        <p:nvSpPr>
          <p:cNvPr id="8" name="Shape 6"/>
          <p:cNvSpPr/>
          <p:nvPr/>
        </p:nvSpPr>
        <p:spPr>
          <a:xfrm>
            <a:off x="658368" y="1719072"/>
            <a:ext cx="10881360" cy="512064"/>
          </a:xfrm>
          <a:prstGeom prst="roundRect">
            <a:avLst>
              <a:gd name="adj" fmla="val 14286"/>
            </a:avLst>
          </a:prstGeom>
          <a:solidFill>
            <a:srgbClr val="12263B"/>
          </a:solidFill>
          <a:ln w="12700">
            <a:solidFill>
              <a:srgbClr val="12263B"/>
            </a:solidFill>
            <a:prstDash val="solid"/>
          </a:ln>
        </p:spPr>
      </p:sp>
      <p:sp>
        <p:nvSpPr>
          <p:cNvPr id="9" name="Text 7"/>
          <p:cNvSpPr/>
          <p:nvPr/>
        </p:nvSpPr>
        <p:spPr>
          <a:xfrm>
            <a:off x="914400" y="1856232"/>
            <a:ext cx="3840480" cy="210312"/>
          </a:xfrm>
          <a:prstGeom prst="rect">
            <a:avLst/>
          </a:prstGeom>
          <a:noFill/>
          <a:ln/>
        </p:spPr>
        <p:txBody>
          <a:bodyPr wrap="square" lIns="0" tIns="0" rIns="0" bIns="0"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CHALLENGE</a:t>
            </a:r>
            <a:endParaRPr lang="en-US" sz="1100" dirty="0"/>
          </a:p>
        </p:txBody>
      </p:sp>
      <p:sp>
        <p:nvSpPr>
          <p:cNvPr id="10" name="Text 8"/>
          <p:cNvSpPr/>
          <p:nvPr/>
        </p:nvSpPr>
        <p:spPr>
          <a:xfrm>
            <a:off x="6126480" y="1856232"/>
            <a:ext cx="4937760" cy="210312"/>
          </a:xfrm>
          <a:prstGeom prst="rect">
            <a:avLst/>
          </a:prstGeom>
          <a:noFill/>
          <a:ln/>
        </p:spPr>
        <p:txBody>
          <a:bodyPr wrap="square" lIns="0" tIns="0" rIns="0" bIns="0" rtlCol="0" anchor="ctr">
            <a:normAutofit/>
          </a:bodyPr>
          <a:lstStyle/>
          <a:p>
            <a:pPr marL="0" indent="0">
              <a:buNone/>
            </a:pPr>
            <a:r>
              <a:rPr lang="en-US" sz="1100" b="1" dirty="0">
                <a:solidFill>
                  <a:srgbClr val="FFFFFF"/>
                </a:solidFill>
                <a:latin typeface="Aptos" pitchFamily="34" charset="0"/>
                <a:ea typeface="Aptos" pitchFamily="34" charset="-122"/>
                <a:cs typeface="Aptos" pitchFamily="34" charset="-120"/>
              </a:rPr>
              <a:t>SOLUTION</a:t>
            </a:r>
            <a:endParaRPr lang="en-US" sz="1100" dirty="0"/>
          </a:p>
        </p:txBody>
      </p:sp>
      <p:sp>
        <p:nvSpPr>
          <p:cNvPr id="11" name="Shape 9"/>
          <p:cNvSpPr/>
          <p:nvPr/>
        </p:nvSpPr>
        <p:spPr>
          <a:xfrm>
            <a:off x="658368" y="2331720"/>
            <a:ext cx="10881360" cy="530352"/>
          </a:xfrm>
          <a:prstGeom prst="roundRect">
            <a:avLst>
              <a:gd name="adj" fmla="val 13793"/>
            </a:avLst>
          </a:prstGeom>
          <a:solidFill>
            <a:srgbClr val="FFFFFC"/>
          </a:solidFill>
          <a:ln w="10160">
            <a:solidFill>
              <a:srgbClr val="D7DEDC"/>
            </a:solidFill>
            <a:prstDash val="solid"/>
          </a:ln>
        </p:spPr>
      </p:sp>
      <p:sp>
        <p:nvSpPr>
          <p:cNvPr id="12" name="Text 10"/>
          <p:cNvSpPr/>
          <p:nvPr/>
        </p:nvSpPr>
        <p:spPr>
          <a:xfrm>
            <a:off x="914400" y="2459736"/>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Duplicate student records</a:t>
            </a:r>
            <a:endParaRPr lang="en-US" sz="1300" dirty="0"/>
          </a:p>
        </p:txBody>
      </p:sp>
      <p:sp>
        <p:nvSpPr>
          <p:cNvPr id="13" name="Text 11"/>
          <p:cNvSpPr/>
          <p:nvPr/>
        </p:nvSpPr>
        <p:spPr>
          <a:xfrm>
            <a:off x="6126480" y="2459736"/>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Validate Student ID before saving</a:t>
            </a:r>
            <a:endParaRPr lang="en-US" sz="1300" dirty="0"/>
          </a:p>
        </p:txBody>
      </p:sp>
      <p:sp>
        <p:nvSpPr>
          <p:cNvPr id="14" name="Shape 12"/>
          <p:cNvSpPr/>
          <p:nvPr/>
        </p:nvSpPr>
        <p:spPr>
          <a:xfrm>
            <a:off x="658368" y="2962656"/>
            <a:ext cx="10881360" cy="530352"/>
          </a:xfrm>
          <a:prstGeom prst="roundRect">
            <a:avLst>
              <a:gd name="adj" fmla="val 13793"/>
            </a:avLst>
          </a:prstGeom>
          <a:solidFill>
            <a:srgbClr val="FFFFFC"/>
          </a:solidFill>
          <a:ln w="10160">
            <a:solidFill>
              <a:srgbClr val="D7DEDC"/>
            </a:solidFill>
            <a:prstDash val="solid"/>
          </a:ln>
        </p:spPr>
      </p:sp>
      <p:sp>
        <p:nvSpPr>
          <p:cNvPr id="15" name="Text 13"/>
          <p:cNvSpPr/>
          <p:nvPr/>
        </p:nvSpPr>
        <p:spPr>
          <a:xfrm>
            <a:off x="914400" y="3090672"/>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Invalid grade values</a:t>
            </a:r>
            <a:endParaRPr lang="en-US" sz="1300" dirty="0"/>
          </a:p>
        </p:txBody>
      </p:sp>
      <p:sp>
        <p:nvSpPr>
          <p:cNvPr id="16" name="Text 14"/>
          <p:cNvSpPr/>
          <p:nvPr/>
        </p:nvSpPr>
        <p:spPr>
          <a:xfrm>
            <a:off x="6126480" y="3090672"/>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Enforce the 0 to 100 grade range</a:t>
            </a:r>
            <a:endParaRPr lang="en-US" sz="1300" dirty="0"/>
          </a:p>
        </p:txBody>
      </p:sp>
      <p:sp>
        <p:nvSpPr>
          <p:cNvPr id="17" name="Shape 15"/>
          <p:cNvSpPr/>
          <p:nvPr/>
        </p:nvSpPr>
        <p:spPr>
          <a:xfrm>
            <a:off x="658368" y="3593592"/>
            <a:ext cx="10881360" cy="530352"/>
          </a:xfrm>
          <a:prstGeom prst="roundRect">
            <a:avLst>
              <a:gd name="adj" fmla="val 13793"/>
            </a:avLst>
          </a:prstGeom>
          <a:solidFill>
            <a:srgbClr val="FFFFFC"/>
          </a:solidFill>
          <a:ln w="10160">
            <a:solidFill>
              <a:srgbClr val="D7DEDC"/>
            </a:solidFill>
            <a:prstDash val="solid"/>
          </a:ln>
        </p:spPr>
      </p:sp>
      <p:sp>
        <p:nvSpPr>
          <p:cNvPr id="18" name="Text 16"/>
          <p:cNvSpPr/>
          <p:nvPr/>
        </p:nvSpPr>
        <p:spPr>
          <a:xfrm>
            <a:off x="914400" y="3721608"/>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Role separation</a:t>
            </a:r>
            <a:endParaRPr lang="en-US" sz="1300" dirty="0"/>
          </a:p>
        </p:txBody>
      </p:sp>
      <p:sp>
        <p:nvSpPr>
          <p:cNvPr id="19" name="Text 17"/>
          <p:cNvSpPr/>
          <p:nvPr/>
        </p:nvSpPr>
        <p:spPr>
          <a:xfrm>
            <a:off x="6126480" y="3721608"/>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Backend restricts Admin and Student actions</a:t>
            </a:r>
            <a:endParaRPr lang="en-US" sz="1300" dirty="0"/>
          </a:p>
        </p:txBody>
      </p:sp>
      <p:sp>
        <p:nvSpPr>
          <p:cNvPr id="20" name="Shape 18"/>
          <p:cNvSpPr/>
          <p:nvPr/>
        </p:nvSpPr>
        <p:spPr>
          <a:xfrm>
            <a:off x="658368" y="4224528"/>
            <a:ext cx="10881360" cy="530352"/>
          </a:xfrm>
          <a:prstGeom prst="roundRect">
            <a:avLst>
              <a:gd name="adj" fmla="val 13793"/>
            </a:avLst>
          </a:prstGeom>
          <a:solidFill>
            <a:srgbClr val="FFFFFC"/>
          </a:solidFill>
          <a:ln w="10160">
            <a:solidFill>
              <a:srgbClr val="D7DEDC"/>
            </a:solidFill>
            <a:prstDash val="solid"/>
          </a:ln>
        </p:spPr>
      </p:sp>
      <p:sp>
        <p:nvSpPr>
          <p:cNvPr id="21" name="Text 19"/>
          <p:cNvSpPr/>
          <p:nvPr/>
        </p:nvSpPr>
        <p:spPr>
          <a:xfrm>
            <a:off x="914400" y="4352544"/>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Section deletion risk</a:t>
            </a:r>
            <a:endParaRPr lang="en-US" sz="1300" dirty="0"/>
          </a:p>
        </p:txBody>
      </p:sp>
      <p:sp>
        <p:nvSpPr>
          <p:cNvPr id="22" name="Text 20"/>
          <p:cNvSpPr/>
          <p:nvPr/>
        </p:nvSpPr>
        <p:spPr>
          <a:xfrm>
            <a:off x="6126480" y="4352544"/>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Archive sections with students or grades</a:t>
            </a:r>
            <a:endParaRPr lang="en-US" sz="1300" dirty="0"/>
          </a:p>
        </p:txBody>
      </p:sp>
      <p:sp>
        <p:nvSpPr>
          <p:cNvPr id="23" name="Shape 21"/>
          <p:cNvSpPr/>
          <p:nvPr/>
        </p:nvSpPr>
        <p:spPr>
          <a:xfrm>
            <a:off x="658368" y="4855464"/>
            <a:ext cx="10881360" cy="530352"/>
          </a:xfrm>
          <a:prstGeom prst="roundRect">
            <a:avLst>
              <a:gd name="adj" fmla="val 13793"/>
            </a:avLst>
          </a:prstGeom>
          <a:solidFill>
            <a:srgbClr val="FFFFFC"/>
          </a:solidFill>
          <a:ln w="10160">
            <a:solidFill>
              <a:srgbClr val="D7DEDC"/>
            </a:solidFill>
            <a:prstDash val="solid"/>
          </a:ln>
        </p:spPr>
      </p:sp>
      <p:sp>
        <p:nvSpPr>
          <p:cNvPr id="24" name="Text 22"/>
          <p:cNvSpPr/>
          <p:nvPr/>
        </p:nvSpPr>
        <p:spPr>
          <a:xfrm>
            <a:off x="914400" y="4983480"/>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Wrong-section schedules</a:t>
            </a:r>
            <a:endParaRPr lang="en-US" sz="1300" dirty="0"/>
          </a:p>
        </p:txBody>
      </p:sp>
      <p:sp>
        <p:nvSpPr>
          <p:cNvPr id="25" name="Text 23"/>
          <p:cNvSpPr/>
          <p:nvPr/>
        </p:nvSpPr>
        <p:spPr>
          <a:xfrm>
            <a:off x="6126480" y="4983480"/>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Filter announcements by approved section</a:t>
            </a:r>
            <a:endParaRPr lang="en-US" sz="1300" dirty="0"/>
          </a:p>
        </p:txBody>
      </p:sp>
      <p:sp>
        <p:nvSpPr>
          <p:cNvPr id="26" name="Shape 24"/>
          <p:cNvSpPr/>
          <p:nvPr/>
        </p:nvSpPr>
        <p:spPr>
          <a:xfrm>
            <a:off x="658368" y="5486400"/>
            <a:ext cx="10881360" cy="530352"/>
          </a:xfrm>
          <a:prstGeom prst="roundRect">
            <a:avLst>
              <a:gd name="adj" fmla="val 13793"/>
            </a:avLst>
          </a:prstGeom>
          <a:solidFill>
            <a:srgbClr val="FFFFFC"/>
          </a:solidFill>
          <a:ln w="10160">
            <a:solidFill>
              <a:srgbClr val="D7DEDC"/>
            </a:solidFill>
            <a:prstDash val="solid"/>
          </a:ln>
        </p:spPr>
      </p:sp>
      <p:sp>
        <p:nvSpPr>
          <p:cNvPr id="27" name="Text 25"/>
          <p:cNvSpPr/>
          <p:nvPr/>
        </p:nvSpPr>
        <p:spPr>
          <a:xfrm>
            <a:off x="914400" y="5614416"/>
            <a:ext cx="4663440" cy="256032"/>
          </a:xfrm>
          <a:prstGeom prst="rect">
            <a:avLst/>
          </a:prstGeom>
          <a:noFill/>
          <a:ln/>
        </p:spPr>
        <p:txBody>
          <a:bodyPr wrap="square" lIns="0" tIns="0" rIns="0" bIns="0" rtlCol="0" anchor="ctr">
            <a:normAutofit/>
          </a:bodyPr>
          <a:lstStyle/>
          <a:p>
            <a:pPr marL="0" indent="0">
              <a:buNone/>
            </a:pPr>
            <a:r>
              <a:rPr lang="en-US" sz="1300" dirty="0">
                <a:solidFill>
                  <a:srgbClr val="132537"/>
                </a:solidFill>
                <a:latin typeface="Aptos" pitchFamily="34" charset="0"/>
                <a:ea typeface="Aptos" pitchFamily="34" charset="-122"/>
                <a:cs typeface="Aptos" pitchFamily="34" charset="-120"/>
              </a:rPr>
              <a:t>Slow write responses</a:t>
            </a:r>
            <a:endParaRPr lang="en-US" sz="1300" dirty="0"/>
          </a:p>
        </p:txBody>
      </p:sp>
      <p:sp>
        <p:nvSpPr>
          <p:cNvPr id="28" name="Text 26"/>
          <p:cNvSpPr/>
          <p:nvPr/>
        </p:nvSpPr>
        <p:spPr>
          <a:xfrm>
            <a:off x="6126480" y="5614416"/>
            <a:ext cx="5029200" cy="256032"/>
          </a:xfrm>
          <a:prstGeom prst="rect">
            <a:avLst/>
          </a:prstGeom>
          <a:noFill/>
          <a:ln/>
        </p:spPr>
        <p:txBody>
          <a:bodyPr wrap="square" lIns="0" tIns="0" rIns="0" bIns="0" rtlCol="0" anchor="ctr">
            <a:normAutofit/>
          </a:bodyPr>
          <a:lstStyle/>
          <a:p>
            <a:pPr marL="0" indent="0">
              <a:buNone/>
            </a:pPr>
            <a:r>
              <a:rPr lang="en-US" sz="1300" dirty="0">
                <a:solidFill>
                  <a:srgbClr val="5F707C"/>
                </a:solidFill>
                <a:latin typeface="Aptos" pitchFamily="34" charset="0"/>
                <a:ea typeface="Aptos" pitchFamily="34" charset="-122"/>
                <a:cs typeface="Aptos" pitchFamily="34" charset="-120"/>
              </a:rPr>
              <a:t>Reconcile writes with authoritative snapshots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63B"/>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9187"/>
          </a:solidFill>
          <a:ln w="12700">
            <a:solidFill>
              <a:srgbClr val="009187">
                <a:alpha val="0"/>
              </a:srgbClr>
            </a:solidFill>
            <a:prstDash val="solid"/>
          </a:ln>
        </p:spPr>
      </p:sp>
      <p:sp>
        <p:nvSpPr>
          <p:cNvPr id="3" name="Text 1"/>
          <p:cNvSpPr/>
          <p:nvPr/>
        </p:nvSpPr>
        <p:spPr>
          <a:xfrm>
            <a:off x="749808" y="621792"/>
            <a:ext cx="4937760" cy="274320"/>
          </a:xfrm>
          <a:prstGeom prst="rect">
            <a:avLst/>
          </a:prstGeom>
          <a:noFill/>
          <a:ln/>
        </p:spPr>
        <p:txBody>
          <a:bodyPr wrap="square" lIns="0" tIns="0" rIns="0" bIns="0" rtlCol="0" anchor="ctr">
            <a:normAutofit/>
          </a:bodyPr>
          <a:lstStyle/>
          <a:p>
            <a:pPr marL="0" indent="0">
              <a:buNone/>
            </a:pPr>
            <a:r>
              <a:rPr lang="en-US" sz="1100" b="1" dirty="0">
                <a:solidFill>
                  <a:srgbClr val="75D7CA"/>
                </a:solidFill>
                <a:latin typeface="Aptos" pitchFamily="34" charset="0"/>
                <a:ea typeface="Aptos" pitchFamily="34" charset="-122"/>
                <a:cs typeface="Aptos" pitchFamily="34" charset="-120"/>
              </a:rPr>
              <a:t>13 / CONCLUSION</a:t>
            </a:r>
            <a:endParaRPr lang="en-US" sz="1100" dirty="0"/>
          </a:p>
        </p:txBody>
      </p:sp>
      <p:sp>
        <p:nvSpPr>
          <p:cNvPr id="4" name="Text 2"/>
          <p:cNvSpPr/>
          <p:nvPr/>
        </p:nvSpPr>
        <p:spPr>
          <a:xfrm>
            <a:off x="749808" y="1234440"/>
            <a:ext cx="7772400" cy="1115568"/>
          </a:xfrm>
          <a:prstGeom prst="rect">
            <a:avLst/>
          </a:prstGeom>
          <a:noFill/>
          <a:ln/>
        </p:spPr>
        <p:txBody>
          <a:bodyPr wrap="square" lIns="0" tIns="0" rIns="0" bIns="0" rtlCol="0" anchor="t">
            <a:normAutofit/>
          </a:bodyP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Enrollment moves from</a:t>
            </a:r>
            <a:endParaRPr lang="en-US" sz="3100" dirty="0"/>
          </a:p>
          <a:p>
            <a:pPr marL="0" indent="0">
              <a:buNone/>
            </a:pPr>
            <a:r>
              <a:rPr lang="en-US" sz="3100" b="1" dirty="0">
                <a:solidFill>
                  <a:srgbClr val="FFFFFF"/>
                </a:solidFill>
                <a:latin typeface="Aptos Display" pitchFamily="34" charset="0"/>
                <a:ea typeface="Aptos Display" pitchFamily="34" charset="-122"/>
                <a:cs typeface="Aptos Display" pitchFamily="34" charset="-120"/>
              </a:rPr>
              <a:t>submission to school-ready.</a:t>
            </a:r>
            <a:endParaRPr lang="en-US" sz="3100" dirty="0"/>
          </a:p>
        </p:txBody>
      </p:sp>
      <p:sp>
        <p:nvSpPr>
          <p:cNvPr id="5" name="Text 3"/>
          <p:cNvSpPr/>
          <p:nvPr/>
        </p:nvSpPr>
        <p:spPr>
          <a:xfrm>
            <a:off x="777240" y="2788920"/>
            <a:ext cx="6858000" cy="1371600"/>
          </a:xfrm>
          <a:prstGeom prst="rect">
            <a:avLst/>
          </a:prstGeom>
          <a:noFill/>
          <a:ln/>
        </p:spPr>
        <p:txBody>
          <a:bodyPr wrap="square" lIns="0" tIns="0" rIns="0" bIns="0" rtlCol="0" anchor="t">
            <a:normAutofit/>
          </a:bodyPr>
          <a:lstStyle/>
          <a:p>
            <a:pPr marL="0" indent="0">
              <a:buNone/>
            </a:pPr>
            <a:r>
              <a:rPr lang="en-US" sz="1600" dirty="0">
                <a:solidFill>
                  <a:srgbClr val="D9E7EC"/>
                </a:solidFill>
                <a:latin typeface="Aptos" pitchFamily="34" charset="0"/>
                <a:ea typeface="Aptos" pitchFamily="34" charset="-122"/>
                <a:cs typeface="Aptos" pitchFamily="34" charset="-120"/>
              </a:rPr>
              <a:t>Student self-service with Admin review</a:t>
            </a:r>
            <a:endParaRPr lang="en-US" sz="1600" dirty="0"/>
          </a:p>
          <a:p>
            <a:pPr marL="0" indent="0">
              <a:buNone/>
            </a:pPr>
            <a:r>
              <a:rPr lang="en-US" sz="1600" dirty="0">
                <a:solidFill>
                  <a:srgbClr val="D9E7EC"/>
                </a:solidFill>
                <a:latin typeface="Aptos" pitchFamily="34" charset="0"/>
                <a:ea typeface="Aptos" pitchFamily="34" charset="-122"/>
                <a:cs typeface="Aptos" pitchFamily="34" charset="-120"/>
              </a:rPr>
              <a:t>Section assignment and targeted schedule announcements</a:t>
            </a:r>
            <a:endParaRPr lang="en-US" sz="1600" dirty="0"/>
          </a:p>
          <a:p>
            <a:pPr marL="0" indent="0">
              <a:buNone/>
            </a:pPr>
            <a:r>
              <a:rPr lang="en-US" sz="1600" dirty="0">
                <a:solidFill>
                  <a:srgbClr val="D9E7EC"/>
                </a:solidFill>
                <a:latin typeface="Aptos" pitchFamily="34" charset="0"/>
                <a:ea typeface="Aptos" pitchFamily="34" charset="-122"/>
                <a:cs typeface="Aptos" pitchFamily="34" charset="-120"/>
              </a:rPr>
              <a:t>Built with HTML, JavaScript, Apps Script, and Google Sheets</a:t>
            </a:r>
            <a:endParaRPr lang="en-US" sz="1600" dirty="0"/>
          </a:p>
        </p:txBody>
      </p:sp>
      <p:sp>
        <p:nvSpPr>
          <p:cNvPr id="6" name="Shape 4"/>
          <p:cNvSpPr/>
          <p:nvPr/>
        </p:nvSpPr>
        <p:spPr>
          <a:xfrm>
            <a:off x="8503920" y="1353312"/>
            <a:ext cx="2514600" cy="3246120"/>
          </a:xfrm>
          <a:prstGeom prst="roundRect">
            <a:avLst>
              <a:gd name="adj" fmla="val 2909"/>
            </a:avLst>
          </a:prstGeom>
          <a:solidFill>
            <a:srgbClr val="1C394E"/>
          </a:solidFill>
          <a:ln w="12700">
            <a:solidFill>
              <a:srgbClr val="1C394E"/>
            </a:solidFill>
            <a:prstDash val="solid"/>
          </a:ln>
        </p:spPr>
      </p:sp>
      <p:sp>
        <p:nvSpPr>
          <p:cNvPr id="7" name="Text 5"/>
          <p:cNvSpPr/>
          <p:nvPr/>
        </p:nvSpPr>
        <p:spPr>
          <a:xfrm>
            <a:off x="8796528" y="1664208"/>
            <a:ext cx="1920240" cy="585216"/>
          </a:xfrm>
          <a:prstGeom prst="rect">
            <a:avLst/>
          </a:prstGeom>
          <a:noFill/>
          <a:ln/>
        </p:spPr>
        <p:txBody>
          <a:bodyPr wrap="square" lIns="0" tIns="0" rIns="0" bIns="0" rtlCol="0" anchor="t">
            <a:normAutofit/>
          </a:bodyPr>
          <a:lstStyle/>
          <a:p>
            <a:pPr marL="0" indent="0">
              <a:buNone/>
            </a:pPr>
            <a:r>
              <a:rPr lang="en-US" sz="1300" b="1" dirty="0">
                <a:solidFill>
                  <a:srgbClr val="75D7CA"/>
                </a:solidFill>
                <a:latin typeface="Aptos" pitchFamily="34" charset="0"/>
                <a:ea typeface="Aptos" pitchFamily="34" charset="-122"/>
                <a:cs typeface="Aptos" pitchFamily="34" charset="-120"/>
              </a:rPr>
              <a:t>FUTURE</a:t>
            </a:r>
            <a:endParaRPr lang="en-US" sz="1300" dirty="0"/>
          </a:p>
          <a:p>
            <a:pPr marL="0" indent="0">
              <a:buNone/>
            </a:pPr>
            <a:r>
              <a:rPr lang="en-US" sz="1300" b="1" dirty="0">
                <a:solidFill>
                  <a:srgbClr val="75D7CA"/>
                </a:solidFill>
                <a:latin typeface="Aptos" pitchFamily="34" charset="0"/>
                <a:ea typeface="Aptos" pitchFamily="34" charset="-122"/>
                <a:cs typeface="Aptos" pitchFamily="34" charset="-120"/>
              </a:rPr>
              <a:t>IMPROVEMENTS</a:t>
            </a:r>
            <a:endParaRPr lang="en-US" sz="1300" dirty="0"/>
          </a:p>
        </p:txBody>
      </p:sp>
      <p:sp>
        <p:nvSpPr>
          <p:cNvPr id="8" name="Text 6"/>
          <p:cNvSpPr/>
          <p:nvPr/>
        </p:nvSpPr>
        <p:spPr>
          <a:xfrm>
            <a:off x="8796528" y="2514600"/>
            <a:ext cx="1874520" cy="1508760"/>
          </a:xfrm>
          <a:prstGeom prst="rect">
            <a:avLst/>
          </a:prstGeom>
          <a:noFill/>
          <a:ln/>
        </p:spPr>
        <p:txBody>
          <a:bodyPr wrap="square" lIns="0" tIns="0" rIns="0" bIns="0" rtlCol="0" anchor="t">
            <a:normAutofit/>
          </a:bodyPr>
          <a:lstStyle/>
          <a:p>
            <a:pPr marL="0" indent="0">
              <a:buNone/>
            </a:pPr>
            <a:r>
              <a:rPr lang="en-US" sz="1400" dirty="0">
                <a:solidFill>
                  <a:srgbClr val="FFFFFF"/>
                </a:solidFill>
                <a:latin typeface="Aptos" pitchFamily="34" charset="0"/>
                <a:ea typeface="Aptos" pitchFamily="34" charset="-122"/>
                <a:cs typeface="Aptos" pitchFamily="34" charset="-120"/>
              </a:rPr>
              <a:t>Printable reports</a:t>
            </a:r>
            <a:endParaRPr lang="en-US" sz="1400" dirty="0"/>
          </a:p>
          <a:p>
            <a:pPr marL="0" indent="0">
              <a:buNone/>
            </a:pPr>
            <a:r>
              <a:rPr lang="en-US" sz="1400" dirty="0">
                <a:solidFill>
                  <a:srgbClr val="FFFFFF"/>
                </a:solidFill>
                <a:latin typeface="Aptos" pitchFamily="34" charset="0"/>
                <a:ea typeface="Aptos" pitchFamily="34" charset="-122"/>
                <a:cs typeface="Aptos" pitchFamily="34" charset="-120"/>
              </a:rPr>
              <a:t>Data export and backup</a:t>
            </a:r>
            <a:endParaRPr lang="en-US" sz="1400" dirty="0"/>
          </a:p>
          <a:p>
            <a:pPr marL="0" indent="0">
              <a:buNone/>
            </a:pPr>
            <a:r>
              <a:rPr lang="en-US" sz="1400" dirty="0">
                <a:solidFill>
                  <a:srgbClr val="FFFFFF"/>
                </a:solidFill>
                <a:latin typeface="Aptos" pitchFamily="34" charset="0"/>
                <a:ea typeface="Aptos" pitchFamily="34" charset="-122"/>
                <a:cs typeface="Aptos" pitchFamily="34" charset="-120"/>
              </a:rPr>
              <a:t>Notifications</a:t>
            </a:r>
            <a:endParaRPr lang="en-US" sz="1400" dirty="0"/>
          </a:p>
          <a:p>
            <a:pPr marL="0" indent="0">
              <a:buNone/>
            </a:pPr>
            <a:r>
              <a:rPr lang="en-US" sz="1400" dirty="0">
                <a:solidFill>
                  <a:srgbClr val="FFFFFF"/>
                </a:solidFill>
                <a:latin typeface="Aptos" pitchFamily="34" charset="0"/>
                <a:ea typeface="Aptos" pitchFamily="34" charset="-122"/>
                <a:cs typeface="Aptos" pitchFamily="34" charset="-120"/>
              </a:rPr>
              <a:t>Teacher portal</a:t>
            </a:r>
            <a:endParaRPr lang="en-US" sz="1400" dirty="0"/>
          </a:p>
        </p:txBody>
      </p:sp>
      <p:sp>
        <p:nvSpPr>
          <p:cNvPr id="9" name="Text 7"/>
          <p:cNvSpPr/>
          <p:nvPr/>
        </p:nvSpPr>
        <p:spPr>
          <a:xfrm>
            <a:off x="777240" y="5257800"/>
            <a:ext cx="3840480" cy="45720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ptos" pitchFamily="34" charset="0"/>
                <a:ea typeface="Aptos" pitchFamily="34" charset="-122"/>
                <a:cs typeface="Aptos" pitchFamily="34" charset="-120"/>
              </a:rPr>
              <a:t>THANK YOU</a:t>
            </a:r>
            <a:endParaRPr lang="en-US" sz="2600" dirty="0"/>
          </a:p>
        </p:txBody>
      </p:sp>
      <p:sp>
        <p:nvSpPr>
          <p:cNvPr id="10" name="Text 8"/>
          <p:cNvSpPr/>
          <p:nvPr/>
        </p:nvSpPr>
        <p:spPr>
          <a:xfrm>
            <a:off x="795528" y="5806440"/>
            <a:ext cx="2468880" cy="256032"/>
          </a:xfrm>
          <a:prstGeom prst="rect">
            <a:avLst/>
          </a:prstGeom>
          <a:noFill/>
          <a:ln/>
        </p:spPr>
        <p:txBody>
          <a:bodyPr wrap="square" lIns="0" tIns="0" rIns="0" bIns="0" rtlCol="0" anchor="ctr">
            <a:normAutofit/>
          </a:bodyPr>
          <a:lstStyle/>
          <a:p>
            <a:pPr marL="0" indent="0">
              <a:buNone/>
            </a:pPr>
            <a:r>
              <a:rPr lang="en-US" sz="1400" dirty="0">
                <a:solidFill>
                  <a:srgbClr val="B1C6D0"/>
                </a:solidFill>
                <a:latin typeface="Aptos" pitchFamily="34" charset="0"/>
                <a:ea typeface="Aptos" pitchFamily="34" charset="-122"/>
                <a:cs typeface="Aptos" pitchFamily="34" charset="-120"/>
              </a:rPr>
              <a:t>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1309</Words>
  <Application>Microsoft Office PowerPoint</Application>
  <PresentationFormat>Widescreen</PresentationFormat>
  <Paragraphs>202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Project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Enrollment and Grading Management System</dc:title>
  <dc:subject>System overview and demonstration</dc:subject>
  <dc:creator>School Enrollment and Grading Management System project team</dc:creator>
  <cp:lastModifiedBy>SCHOOL PROJECT</cp:lastModifiedBy>
  <cp:revision>2</cp:revision>
  <dcterms:created xsi:type="dcterms:W3CDTF">2026-09-30T12:10:31Z</dcterms:created>
  <dcterms:modified xsi:type="dcterms:W3CDTF">2026-09-30T13:28:39Z</dcterms:modified>
</cp:coreProperties>
</file>