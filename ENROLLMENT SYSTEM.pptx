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96" y="6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9880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We are here to present our School Enrollment and Grading Management System. It helps an administrator organize student records, school sections, and grades. I am [name], together with [group members], from [course and section].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is a web-based application for the school administrator or registrar. It provides one place to manage student information, assign students to sections, and record grades. Students are entered by the administrator; this version does not have student self-registration.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student records manually can take time and make information harder to track. Section assignments and grades may become inconsistent when they are kept in separate files. Our objectives were to organize student records, manage sections, validate grades, and provide an administrator dashboard.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user is the administrator or registrar. The Admin can view dashboard statistics, add and edit students, search records, transfer students between sections, manage sections, enter grades, and update school settings. Students are records managed by the Admin, not separate system users.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three main parts. HTML, CSS, and JavaScript display the interface. Google Apps Script processes requests and enforces backend rules. Google Sheets stores the records. The browser talks to Apps Script, and Apps Script reads or updates the spreadsheet.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Sheets is used as the project database. Users stores Admin account information. Students holds student details and section assignments. Sections stores grade levels and section names. Grades stores subject grades. Settings stores the current school configuration. ActivityLogs records system actions.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screenshots show the actual Admin login page and dashboard. The dashboard displays student, enrollment, section, and grading totals. Student details shown elsewhere in this deck have been anonymized for presentation.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demonstrate the actual workflow. First, the administrator logs in. From Enrollment, the administrator adds a student and assigns a section. In Grading, the administrator selects a section, enters grades, and saves them. The system calculates averages and remarks. We will also show Settings.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encountered issues including duplicate student records, invalid grade input, unauthorized access risks, and the risk of breaking records when deleting sections. We added validation, Admin-only backend checks, and section archiving. We also corrected a loading UI issue that prevented Settings from saving.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system gives administrators an organized way to manage student records, sections, and grades. The project helped us apply front-end development, backend services, and database concepts. Future improvements could include printable reports, data export, backups, and additional user roles. Thank you. We are ready for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B"/>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009187"/>
          </a:solidFill>
          <a:ln w="12700">
            <a:solidFill>
              <a:srgbClr val="009187">
                <a:alpha val="0"/>
              </a:srgbClr>
            </a:solidFill>
            <a:prstDash val="solid"/>
          </a:ln>
        </p:spPr>
      </p:sp>
      <p:sp>
        <p:nvSpPr>
          <p:cNvPr id="3" name="Text 1"/>
          <p:cNvSpPr/>
          <p:nvPr/>
        </p:nvSpPr>
        <p:spPr>
          <a:xfrm>
            <a:off x="749808" y="640080"/>
            <a:ext cx="5120640" cy="274320"/>
          </a:xfrm>
          <a:prstGeom prst="rect">
            <a:avLst/>
          </a:prstGeom>
          <a:noFill/>
          <a:ln/>
        </p:spPr>
        <p:txBody>
          <a:bodyPr wrap="square" lIns="0" tIns="0" rIns="0" bIns="0" rtlCol="0" anchor="ctr">
            <a:normAutofit/>
          </a:bodyPr>
          <a:lstStyle/>
          <a:p>
            <a:pPr marL="0" indent="0">
              <a:buNone/>
            </a:pPr>
            <a:r>
              <a:rPr lang="en-US" sz="1100" b="1" dirty="0">
                <a:solidFill>
                  <a:srgbClr val="75D7CA"/>
                </a:solidFill>
                <a:latin typeface="Aptos" pitchFamily="34" charset="0"/>
                <a:ea typeface="Aptos" pitchFamily="34" charset="-122"/>
                <a:cs typeface="Aptos" pitchFamily="34" charset="-120"/>
              </a:rPr>
              <a:t>PROJECT PRESENTATION</a:t>
            </a:r>
            <a:endParaRPr lang="en-US" sz="1100" dirty="0"/>
          </a:p>
        </p:txBody>
      </p:sp>
      <p:sp>
        <p:nvSpPr>
          <p:cNvPr id="4" name="Text 2"/>
          <p:cNvSpPr/>
          <p:nvPr/>
        </p:nvSpPr>
        <p:spPr>
          <a:xfrm>
            <a:off x="749808" y="1325880"/>
            <a:ext cx="6035040" cy="2084832"/>
          </a:xfrm>
          <a:prstGeom prst="rect">
            <a:avLst/>
          </a:prstGeom>
          <a:noFill/>
          <a:ln/>
        </p:spPr>
        <p:txBody>
          <a:bodyPr wrap="square" lIns="0" tIns="0" rIns="0" bIns="0" rtlCol="0" anchor="t">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School Enrollment</a:t>
            </a:r>
            <a:endParaRPr lang="en-US" sz="3400" dirty="0"/>
          </a:p>
          <a:p>
            <a:pPr marL="0" indent="0">
              <a:buNone/>
            </a:pPr>
            <a:r>
              <a:rPr lang="en-US" sz="3400" b="1" dirty="0">
                <a:solidFill>
                  <a:srgbClr val="FFFFFF"/>
                </a:solidFill>
                <a:latin typeface="Aptos Display" pitchFamily="34" charset="0"/>
                <a:ea typeface="Aptos Display" pitchFamily="34" charset="-122"/>
                <a:cs typeface="Aptos Display" pitchFamily="34" charset="-120"/>
              </a:rPr>
              <a:t>and Grading</a:t>
            </a:r>
            <a:endParaRPr lang="en-US" sz="3400" dirty="0"/>
          </a:p>
          <a:p>
            <a:pPr marL="0" indent="0">
              <a:buNone/>
            </a:pPr>
            <a:r>
              <a:rPr lang="en-US" sz="3400" b="1" dirty="0">
                <a:solidFill>
                  <a:srgbClr val="FFFFFF"/>
                </a:solidFill>
                <a:latin typeface="Aptos Display" pitchFamily="34" charset="0"/>
                <a:ea typeface="Aptos Display" pitchFamily="34" charset="-122"/>
                <a:cs typeface="Aptos Display" pitchFamily="34" charset="-120"/>
              </a:rPr>
              <a:t>Management System</a:t>
            </a:r>
            <a:endParaRPr lang="en-US" sz="3400" dirty="0"/>
          </a:p>
        </p:txBody>
      </p:sp>
      <p:sp>
        <p:nvSpPr>
          <p:cNvPr id="5" name="Text 3"/>
          <p:cNvSpPr/>
          <p:nvPr/>
        </p:nvSpPr>
        <p:spPr>
          <a:xfrm>
            <a:off x="768096" y="3703320"/>
            <a:ext cx="5486400" cy="685800"/>
          </a:xfrm>
          <a:prstGeom prst="rect">
            <a:avLst/>
          </a:prstGeom>
          <a:noFill/>
          <a:ln/>
        </p:spPr>
        <p:txBody>
          <a:bodyPr wrap="square" lIns="0" tIns="0" rIns="0" bIns="0" rtlCol="0" anchor="t">
            <a:normAutofit/>
          </a:bodyPr>
          <a:lstStyle/>
          <a:p>
            <a:pPr marL="0" indent="0">
              <a:buNone/>
            </a:pPr>
            <a:r>
              <a:rPr lang="en-US" sz="1700" dirty="0">
                <a:solidFill>
                  <a:srgbClr val="D9E7EC"/>
                </a:solidFill>
                <a:latin typeface="Aptos" pitchFamily="34" charset="0"/>
                <a:ea typeface="Aptos" pitchFamily="34" charset="-122"/>
                <a:cs typeface="Aptos" pitchFamily="34" charset="-120"/>
              </a:rPr>
              <a:t>A web-based Admin system for student records, sections, and grades</a:t>
            </a:r>
            <a:endParaRPr lang="en-US" sz="1700" dirty="0"/>
          </a:p>
        </p:txBody>
      </p:sp>
      <p:sp>
        <p:nvSpPr>
          <p:cNvPr id="6" name="Text 4"/>
          <p:cNvSpPr/>
          <p:nvPr/>
        </p:nvSpPr>
        <p:spPr>
          <a:xfrm>
            <a:off x="768096" y="5303520"/>
            <a:ext cx="5029200" cy="256032"/>
          </a:xfrm>
          <a:prstGeom prst="rect">
            <a:avLst/>
          </a:prstGeom>
          <a:noFill/>
          <a:ln/>
        </p:spPr>
        <p:txBody>
          <a:bodyPr wrap="square" lIns="0" tIns="0" rIns="0" bIns="0" rtlCol="0" anchor="ctr">
            <a:normAutofit/>
          </a:bodyPr>
          <a:lstStyle/>
          <a:p>
            <a:pPr marL="0" indent="0">
              <a:buNone/>
            </a:pPr>
            <a:r>
              <a:rPr lang="en-US" sz="1300" dirty="0">
                <a:solidFill>
                  <a:srgbClr val="FFFFFF"/>
                </a:solidFill>
                <a:latin typeface="Aptos" pitchFamily="34" charset="0"/>
                <a:ea typeface="Aptos" pitchFamily="34" charset="-122"/>
                <a:cs typeface="Aptos" pitchFamily="34" charset="-120"/>
              </a:rPr>
              <a:t>Presented by: [GROUP NAME NATEN LAGAY MO)]</a:t>
            </a:r>
            <a:endParaRPr lang="en-US" sz="1300" dirty="0"/>
          </a:p>
        </p:txBody>
      </p:sp>
      <p:sp>
        <p:nvSpPr>
          <p:cNvPr id="7" name="Text 5"/>
          <p:cNvSpPr/>
          <p:nvPr/>
        </p:nvSpPr>
        <p:spPr>
          <a:xfrm>
            <a:off x="768096" y="5669280"/>
            <a:ext cx="5760720" cy="256032"/>
          </a:xfrm>
          <a:prstGeom prst="rect">
            <a:avLst/>
          </a:prstGeom>
          <a:noFill/>
          <a:ln/>
        </p:spPr>
        <p:txBody>
          <a:bodyPr wrap="square" lIns="0" tIns="0" rIns="0" bIns="0" rtlCol="0" anchor="ctr">
            <a:normAutofit/>
          </a:bodyPr>
          <a:lstStyle/>
          <a:p>
            <a:pPr marL="0" indent="0">
              <a:buNone/>
            </a:pPr>
            <a:r>
              <a:rPr lang="en-US" sz="1100" dirty="0">
                <a:solidFill>
                  <a:srgbClr val="B1C6D0"/>
                </a:solidFill>
                <a:latin typeface="Aptos" pitchFamily="34" charset="0"/>
                <a:ea typeface="Aptos" pitchFamily="34" charset="-122"/>
                <a:cs typeface="Aptos" pitchFamily="34" charset="-120"/>
              </a:rPr>
              <a:t>[Course / Section]   |   [PANGALAN NI SIR AT SECTION NATIN LAGAY KA]   |   [DATE]</a:t>
            </a:r>
            <a:endParaRPr lang="en-US" sz="1100" dirty="0"/>
          </a:p>
        </p:txBody>
      </p:sp>
      <p:sp>
        <p:nvSpPr>
          <p:cNvPr id="8" name="Shape 6"/>
          <p:cNvSpPr/>
          <p:nvPr/>
        </p:nvSpPr>
        <p:spPr>
          <a:xfrm>
            <a:off x="7296912" y="1426464"/>
            <a:ext cx="4288536" cy="2962656"/>
          </a:xfrm>
          <a:prstGeom prst="roundRect">
            <a:avLst>
              <a:gd name="adj" fmla="val 2469"/>
            </a:avLst>
          </a:prstGeom>
          <a:solidFill>
            <a:srgbClr val="FFFFFC"/>
          </a:solidFill>
          <a:ln w="10160">
            <a:solidFill>
              <a:srgbClr val="D7DEDC"/>
            </a:solidFill>
            <a:prstDash val="solid"/>
          </a:ln>
        </p:spPr>
      </p:sp>
      <p:pic>
        <p:nvPicPr>
          <p:cNvPr id="9" name="Image 0" descr="C:\Users\SCHOOL PROJECT\Documents\Enrollment-system-main\presentation_assets\slide02-dashboard.png"/>
          <p:cNvPicPr>
            <a:picLocks noChangeAspect="1"/>
          </p:cNvPicPr>
          <p:nvPr/>
        </p:nvPicPr>
        <p:blipFill>
          <a:blip r:embed="rId3"/>
          <a:stretch>
            <a:fillRect/>
          </a:stretch>
        </p:blipFill>
        <p:spPr>
          <a:xfrm>
            <a:off x="7360920" y="1607630"/>
            <a:ext cx="4160520" cy="2600325"/>
          </a:xfrm>
          <a:prstGeom prst="rect">
            <a:avLst/>
          </a:prstGeom>
        </p:spPr>
      </p:pic>
      <p:sp>
        <p:nvSpPr>
          <p:cNvPr id="10" name="Shape 7"/>
          <p:cNvSpPr/>
          <p:nvPr/>
        </p:nvSpPr>
        <p:spPr>
          <a:xfrm>
            <a:off x="8577072" y="4572000"/>
            <a:ext cx="1719072" cy="283464"/>
          </a:xfrm>
          <a:prstGeom prst="roundRect">
            <a:avLst>
              <a:gd name="adj" fmla="val 25806"/>
            </a:avLst>
          </a:prstGeom>
          <a:solidFill>
            <a:srgbClr val="009187"/>
          </a:solidFill>
          <a:ln w="12700">
            <a:solidFill>
              <a:srgbClr val="009187"/>
            </a:solidFill>
            <a:prstDash val="solid"/>
          </a:ln>
        </p:spPr>
      </p:sp>
      <p:sp>
        <p:nvSpPr>
          <p:cNvPr id="11" name="Text 8"/>
          <p:cNvSpPr/>
          <p:nvPr/>
        </p:nvSpPr>
        <p:spPr>
          <a:xfrm>
            <a:off x="8622792" y="4585716"/>
            <a:ext cx="1627632" cy="23774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ADMIN DASHBOARD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01 / OVERVIEW</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One place to manage school records</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A focused Admin workflow backed by Google Sheets.</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658368" y="1874520"/>
            <a:ext cx="4389120" cy="274320"/>
          </a:xfrm>
          <a:prstGeom prst="rect">
            <a:avLst/>
          </a:prstGeom>
          <a:noFill/>
          <a:ln/>
        </p:spPr>
        <p:txBody>
          <a:bodyPr wrap="square" lIns="0" tIns="0" rIns="0" bIns="0" rtlCol="0" anchor="ctr">
            <a:normAutofit/>
          </a:bodyPr>
          <a:lstStyle/>
          <a:p>
            <a:pPr marL="0" indent="0">
              <a:buNone/>
            </a:pPr>
            <a:r>
              <a:rPr lang="en-US" sz="1100" b="1" dirty="0">
                <a:solidFill>
                  <a:srgbClr val="009187"/>
                </a:solidFill>
                <a:latin typeface="Aptos" pitchFamily="34" charset="0"/>
                <a:ea typeface="Aptos" pitchFamily="34" charset="-122"/>
                <a:cs typeface="Aptos" pitchFamily="34" charset="-120"/>
              </a:rPr>
              <a:t>WHAT THE SYSTEM DOES</a:t>
            </a:r>
            <a:endParaRPr lang="en-US" sz="1100" dirty="0"/>
          </a:p>
        </p:txBody>
      </p:sp>
      <p:sp>
        <p:nvSpPr>
          <p:cNvPr id="9" name="Text 7"/>
          <p:cNvSpPr/>
          <p:nvPr/>
        </p:nvSpPr>
        <p:spPr>
          <a:xfrm>
            <a:off x="658368" y="2286000"/>
            <a:ext cx="5120640" cy="2194560"/>
          </a:xfrm>
          <a:prstGeom prst="rect">
            <a:avLst/>
          </a:prstGeom>
          <a:noFill/>
          <a:ln/>
        </p:spPr>
        <p:txBody>
          <a:bodyPr wrap="square" lIns="0" tIns="0" rIns="0" bIns="0" rtlCol="0" anchor="t">
            <a:normAutofit/>
          </a:bodyPr>
          <a:lstStyle/>
          <a:p>
            <a:pPr marL="0" indent="0">
              <a:buNone/>
            </a:pPr>
            <a:r>
              <a:rPr lang="en-US" sz="1900" dirty="0">
                <a:solidFill>
                  <a:srgbClr val="132537"/>
                </a:solidFill>
                <a:latin typeface="Aptos" pitchFamily="34" charset="0"/>
                <a:ea typeface="Aptos" pitchFamily="34" charset="-122"/>
                <a:cs typeface="Aptos" pitchFamily="34" charset="-120"/>
              </a:rPr>
              <a:t>- Manages student records</a:t>
            </a:r>
            <a:endParaRPr lang="en-US" sz="1900" dirty="0"/>
          </a:p>
          <a:p>
            <a:pPr marL="0" indent="0">
              <a:buNone/>
            </a:pPr>
            <a:r>
              <a:rPr lang="en-US" sz="1900" dirty="0">
                <a:solidFill>
                  <a:srgbClr val="132537"/>
                </a:solidFill>
                <a:latin typeface="Aptos" pitchFamily="34" charset="0"/>
                <a:ea typeface="Aptos" pitchFamily="34" charset="-122"/>
                <a:cs typeface="Aptos" pitchFamily="34" charset="-120"/>
              </a:rPr>
              <a:t>- Assigns students to school sections</a:t>
            </a:r>
            <a:endParaRPr lang="en-US" sz="1900" dirty="0"/>
          </a:p>
          <a:p>
            <a:pPr marL="0" indent="0">
              <a:buNone/>
            </a:pPr>
            <a:r>
              <a:rPr lang="en-US" sz="1900" dirty="0">
                <a:solidFill>
                  <a:srgbClr val="132537"/>
                </a:solidFill>
                <a:latin typeface="Aptos" pitchFamily="34" charset="0"/>
                <a:ea typeface="Aptos" pitchFamily="34" charset="-122"/>
                <a:cs typeface="Aptos" pitchFamily="34" charset="-120"/>
              </a:rPr>
              <a:t>- Records and validates grades</a:t>
            </a:r>
            <a:endParaRPr lang="en-US" sz="1900" dirty="0"/>
          </a:p>
          <a:p>
            <a:pPr marL="0" indent="0">
              <a:buNone/>
            </a:pPr>
            <a:r>
              <a:rPr lang="en-US" sz="1900" dirty="0">
                <a:solidFill>
                  <a:srgbClr val="132537"/>
                </a:solidFill>
                <a:latin typeface="Aptos" pitchFamily="34" charset="0"/>
                <a:ea typeface="Aptos" pitchFamily="34" charset="-122"/>
                <a:cs typeface="Aptos" pitchFamily="34" charset="-120"/>
              </a:rPr>
              <a:t>- Configures school year, subjects, and passing grade</a:t>
            </a:r>
            <a:endParaRPr lang="en-US" sz="1900" dirty="0"/>
          </a:p>
        </p:txBody>
      </p:sp>
      <p:sp>
        <p:nvSpPr>
          <p:cNvPr id="10" name="Shape 8"/>
          <p:cNvSpPr/>
          <p:nvPr/>
        </p:nvSpPr>
        <p:spPr>
          <a:xfrm>
            <a:off x="658368" y="4800600"/>
            <a:ext cx="5074920" cy="868680"/>
          </a:xfrm>
          <a:prstGeom prst="roundRect">
            <a:avLst>
              <a:gd name="adj" fmla="val 8421"/>
            </a:avLst>
          </a:prstGeom>
          <a:solidFill>
            <a:srgbClr val="FFFFFC"/>
          </a:solidFill>
          <a:ln w="10160">
            <a:solidFill>
              <a:srgbClr val="D7DEDC"/>
            </a:solidFill>
            <a:prstDash val="solid"/>
          </a:ln>
        </p:spPr>
      </p:sp>
      <p:sp>
        <p:nvSpPr>
          <p:cNvPr id="11" name="Text 9"/>
          <p:cNvSpPr/>
          <p:nvPr/>
        </p:nvSpPr>
        <p:spPr>
          <a:xfrm>
            <a:off x="896112" y="5010912"/>
            <a:ext cx="1828800" cy="228600"/>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PRIMARY USER</a:t>
            </a:r>
            <a:endParaRPr lang="en-US" sz="1000" dirty="0"/>
          </a:p>
        </p:txBody>
      </p:sp>
      <p:sp>
        <p:nvSpPr>
          <p:cNvPr id="12" name="Text 10"/>
          <p:cNvSpPr/>
          <p:nvPr/>
        </p:nvSpPr>
        <p:spPr>
          <a:xfrm>
            <a:off x="896112" y="5321808"/>
            <a:ext cx="4206240" cy="256032"/>
          </a:xfrm>
          <a:prstGeom prst="rect">
            <a:avLst/>
          </a:prstGeom>
          <a:noFill/>
          <a:ln/>
        </p:spPr>
        <p:txBody>
          <a:bodyPr wrap="square" lIns="0" tIns="0" rIns="0" bIns="0" rtlCol="0" anchor="ctr">
            <a:normAutofit/>
          </a:bodyPr>
          <a:lstStyle/>
          <a:p>
            <a:pPr marL="0" indent="0">
              <a:buNone/>
            </a:pPr>
            <a:r>
              <a:rPr lang="en-US" sz="1700" b="1" dirty="0">
                <a:solidFill>
                  <a:srgbClr val="132537"/>
                </a:solidFill>
                <a:latin typeface="Aptos" pitchFamily="34" charset="0"/>
                <a:ea typeface="Aptos" pitchFamily="34" charset="-122"/>
                <a:cs typeface="Aptos" pitchFamily="34" charset="-120"/>
              </a:rPr>
              <a:t>Administrator / Registrar</a:t>
            </a:r>
            <a:endParaRPr lang="en-US" sz="1700" dirty="0"/>
          </a:p>
        </p:txBody>
      </p:sp>
      <p:sp>
        <p:nvSpPr>
          <p:cNvPr id="13" name="Shape 11"/>
          <p:cNvSpPr/>
          <p:nvPr/>
        </p:nvSpPr>
        <p:spPr>
          <a:xfrm>
            <a:off x="6501384" y="1783080"/>
            <a:ext cx="4654296" cy="3191256"/>
          </a:xfrm>
          <a:prstGeom prst="roundRect">
            <a:avLst>
              <a:gd name="adj" fmla="val 2292"/>
            </a:avLst>
          </a:prstGeom>
          <a:solidFill>
            <a:srgbClr val="FFFFFC"/>
          </a:solidFill>
          <a:ln w="10160">
            <a:solidFill>
              <a:srgbClr val="D7DEDC"/>
            </a:solidFill>
            <a:prstDash val="solid"/>
          </a:ln>
        </p:spPr>
      </p:sp>
      <p:pic>
        <p:nvPicPr>
          <p:cNvPr id="14" name="Image 0" descr="C:\Users\SCHOOL PROJECT\Documents\Enrollment-system-main\presentation_assets\slide02-dashboard.png"/>
          <p:cNvPicPr>
            <a:picLocks noChangeAspect="1"/>
          </p:cNvPicPr>
          <p:nvPr/>
        </p:nvPicPr>
        <p:blipFill>
          <a:blip r:embed="rId3"/>
          <a:stretch>
            <a:fillRect/>
          </a:stretch>
        </p:blipFill>
        <p:spPr>
          <a:xfrm>
            <a:off x="6565392" y="1964246"/>
            <a:ext cx="4526280" cy="28289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02 / PURPOSE</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From manual records to an organized workflow</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The project focuses on accuracy, traceability, and simpler administration.</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74520"/>
            <a:ext cx="4800600" cy="3474720"/>
          </a:xfrm>
          <a:prstGeom prst="roundRect">
            <a:avLst>
              <a:gd name="adj" fmla="val 2105"/>
            </a:avLst>
          </a:prstGeom>
          <a:solidFill>
            <a:srgbClr val="FFFFFC"/>
          </a:solidFill>
          <a:ln w="10160">
            <a:solidFill>
              <a:srgbClr val="D7DEDC"/>
            </a:solidFill>
            <a:prstDash val="solid"/>
          </a:ln>
        </p:spPr>
      </p:sp>
      <p:sp>
        <p:nvSpPr>
          <p:cNvPr id="9" name="Shape 7"/>
          <p:cNvSpPr/>
          <p:nvPr/>
        </p:nvSpPr>
        <p:spPr>
          <a:xfrm>
            <a:off x="932688" y="2157984"/>
            <a:ext cx="1481328" cy="283464"/>
          </a:xfrm>
          <a:prstGeom prst="roundRect">
            <a:avLst>
              <a:gd name="adj" fmla="val 25806"/>
            </a:avLst>
          </a:prstGeom>
          <a:solidFill>
            <a:srgbClr val="D96952"/>
          </a:solidFill>
          <a:ln w="12700">
            <a:solidFill>
              <a:srgbClr val="D96952"/>
            </a:solidFill>
            <a:prstDash val="solid"/>
          </a:ln>
        </p:spPr>
      </p:sp>
      <p:sp>
        <p:nvSpPr>
          <p:cNvPr id="10" name="Text 8"/>
          <p:cNvSpPr/>
          <p:nvPr/>
        </p:nvSpPr>
        <p:spPr>
          <a:xfrm>
            <a:off x="978408" y="2171700"/>
            <a:ext cx="1389888" cy="23774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THE PROBLEM</a:t>
            </a:r>
            <a:endParaRPr lang="en-US" sz="900" dirty="0"/>
          </a:p>
        </p:txBody>
      </p:sp>
      <p:sp>
        <p:nvSpPr>
          <p:cNvPr id="11" name="Text 9"/>
          <p:cNvSpPr/>
          <p:nvPr/>
        </p:nvSpPr>
        <p:spPr>
          <a:xfrm>
            <a:off x="932688" y="2788920"/>
            <a:ext cx="4160520" cy="2057400"/>
          </a:xfrm>
          <a:prstGeom prst="rect">
            <a:avLst/>
          </a:prstGeom>
          <a:noFill/>
          <a:ln/>
        </p:spPr>
        <p:txBody>
          <a:bodyPr wrap="square" lIns="0" tIns="0" rIns="0" bIns="0" rtlCol="0" anchor="t">
            <a:normAutofit/>
          </a:bodyPr>
          <a:lstStyle/>
          <a:p>
            <a:pPr marL="0" indent="0">
              <a:buNone/>
            </a:pPr>
            <a:r>
              <a:rPr lang="en-US" sz="2200" dirty="0">
                <a:solidFill>
                  <a:srgbClr val="132537"/>
                </a:solidFill>
                <a:latin typeface="Aptos" pitchFamily="34" charset="0"/>
                <a:ea typeface="Aptos" pitchFamily="34" charset="-122"/>
                <a:cs typeface="Aptos" pitchFamily="34" charset="-120"/>
              </a:rPr>
              <a:t>Manual records take time.</a:t>
            </a:r>
            <a:endParaRPr lang="en-US" sz="2200" dirty="0"/>
          </a:p>
          <a:p>
            <a:pPr marL="0" indent="0">
              <a:buNone/>
            </a:pPr>
            <a:r>
              <a:rPr lang="en-US" sz="2200" dirty="0">
                <a:solidFill>
                  <a:srgbClr val="132537"/>
                </a:solidFill>
                <a:latin typeface="Aptos" pitchFamily="34" charset="0"/>
                <a:ea typeface="Aptos" pitchFamily="34" charset="-122"/>
                <a:cs typeface="Aptos" pitchFamily="34" charset="-120"/>
              </a:rPr>
              <a:t>Information can be hard to track.</a:t>
            </a:r>
            <a:endParaRPr lang="en-US" sz="2200" dirty="0"/>
          </a:p>
          <a:p>
            <a:pPr marL="0" indent="0">
              <a:buNone/>
            </a:pPr>
            <a:r>
              <a:rPr lang="en-US" sz="2200" dirty="0">
                <a:solidFill>
                  <a:srgbClr val="132537"/>
                </a:solidFill>
                <a:latin typeface="Aptos" pitchFamily="34" charset="0"/>
                <a:ea typeface="Aptos" pitchFamily="34" charset="-122"/>
                <a:cs typeface="Aptos" pitchFamily="34" charset="-120"/>
              </a:rPr>
              <a:t>Grade entry can introduce errors.</a:t>
            </a:r>
            <a:endParaRPr lang="en-US" sz="2200" dirty="0"/>
          </a:p>
        </p:txBody>
      </p:sp>
      <p:sp>
        <p:nvSpPr>
          <p:cNvPr id="12" name="Shape 10"/>
          <p:cNvSpPr/>
          <p:nvPr/>
        </p:nvSpPr>
        <p:spPr>
          <a:xfrm>
            <a:off x="5989320" y="1874520"/>
            <a:ext cx="5440680" cy="3474720"/>
          </a:xfrm>
          <a:prstGeom prst="roundRect">
            <a:avLst>
              <a:gd name="adj" fmla="val 2105"/>
            </a:avLst>
          </a:prstGeom>
          <a:solidFill>
            <a:srgbClr val="12263B"/>
          </a:solidFill>
          <a:ln w="12700">
            <a:solidFill>
              <a:srgbClr val="12263B"/>
            </a:solidFill>
            <a:prstDash val="solid"/>
          </a:ln>
        </p:spPr>
      </p:sp>
      <p:sp>
        <p:nvSpPr>
          <p:cNvPr id="13" name="Shape 11"/>
          <p:cNvSpPr/>
          <p:nvPr/>
        </p:nvSpPr>
        <p:spPr>
          <a:xfrm>
            <a:off x="6309360" y="2157984"/>
            <a:ext cx="1938528" cy="283464"/>
          </a:xfrm>
          <a:prstGeom prst="roundRect">
            <a:avLst>
              <a:gd name="adj" fmla="val 25806"/>
            </a:avLst>
          </a:prstGeom>
          <a:solidFill>
            <a:srgbClr val="009187"/>
          </a:solidFill>
          <a:ln w="12700">
            <a:solidFill>
              <a:srgbClr val="009187"/>
            </a:solidFill>
            <a:prstDash val="solid"/>
          </a:ln>
        </p:spPr>
      </p:sp>
      <p:sp>
        <p:nvSpPr>
          <p:cNvPr id="14" name="Text 12"/>
          <p:cNvSpPr/>
          <p:nvPr/>
        </p:nvSpPr>
        <p:spPr>
          <a:xfrm>
            <a:off x="6355080" y="2171700"/>
            <a:ext cx="1847088" cy="23774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PROJECT OBJECTIVES</a:t>
            </a:r>
            <a:endParaRPr lang="en-US" sz="900" dirty="0"/>
          </a:p>
        </p:txBody>
      </p:sp>
      <p:sp>
        <p:nvSpPr>
          <p:cNvPr id="15" name="Text 13"/>
          <p:cNvSpPr/>
          <p:nvPr/>
        </p:nvSpPr>
        <p:spPr>
          <a:xfrm>
            <a:off x="6309360" y="2779776"/>
            <a:ext cx="4617720" cy="2194560"/>
          </a:xfrm>
          <a:prstGeom prst="rect">
            <a:avLst/>
          </a:prstGeom>
          <a:noFill/>
          <a:ln/>
        </p:spPr>
        <p:txBody>
          <a:bodyPr wrap="square" lIns="0" tIns="0" rIns="0" bIns="0" rtlCol="0" anchor="t">
            <a:normAutofit/>
          </a:bodyPr>
          <a:lstStyle/>
          <a:p>
            <a:pPr marL="0" indent="0">
              <a:buNone/>
            </a:pPr>
            <a:r>
              <a:rPr lang="en-US" sz="2100" dirty="0">
                <a:solidFill>
                  <a:srgbClr val="FFFFFF"/>
                </a:solidFill>
                <a:latin typeface="Aptos" pitchFamily="34" charset="0"/>
                <a:ea typeface="Aptos" pitchFamily="34" charset="-122"/>
                <a:cs typeface="Aptos" pitchFamily="34" charset="-120"/>
              </a:rPr>
              <a:t>Organize student records</a:t>
            </a:r>
            <a:endParaRPr lang="en-US" sz="2100" dirty="0"/>
          </a:p>
          <a:p>
            <a:pPr marL="0" indent="0">
              <a:buNone/>
            </a:pPr>
            <a:r>
              <a:rPr lang="en-US" sz="2100" dirty="0">
                <a:solidFill>
                  <a:srgbClr val="FFFFFF"/>
                </a:solidFill>
                <a:latin typeface="Aptos" pitchFamily="34" charset="0"/>
                <a:ea typeface="Aptos" pitchFamily="34" charset="-122"/>
                <a:cs typeface="Aptos" pitchFamily="34" charset="-120"/>
              </a:rPr>
              <a:t>Manage section assignments</a:t>
            </a:r>
            <a:endParaRPr lang="en-US" sz="2100" dirty="0"/>
          </a:p>
          <a:p>
            <a:pPr marL="0" indent="0">
              <a:buNone/>
            </a:pPr>
            <a:r>
              <a:rPr lang="en-US" sz="2100" dirty="0">
                <a:solidFill>
                  <a:srgbClr val="FFFFFF"/>
                </a:solidFill>
                <a:latin typeface="Aptos" pitchFamily="34" charset="0"/>
                <a:ea typeface="Aptos" pitchFamily="34" charset="-122"/>
                <a:cs typeface="Aptos" pitchFamily="34" charset="-120"/>
              </a:rPr>
              <a:t>Validate grades from 0 to 100</a:t>
            </a:r>
            <a:endParaRPr lang="en-US" sz="2100" dirty="0"/>
          </a:p>
          <a:p>
            <a:pPr marL="0" indent="0">
              <a:buNone/>
            </a:pPr>
            <a:r>
              <a:rPr lang="en-US" sz="2100" dirty="0">
                <a:solidFill>
                  <a:srgbClr val="FFFFFF"/>
                </a:solidFill>
                <a:latin typeface="Aptos" pitchFamily="34" charset="0"/>
                <a:ea typeface="Aptos" pitchFamily="34" charset="-122"/>
                <a:cs typeface="Aptos" pitchFamily="34" charset="-120"/>
              </a:rPr>
              <a:t>Show useful dashboard statistics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03 / CAPABILITIES</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Admin tools for enrollment and grading</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One administrator role manages the school data.</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04</a:t>
            </a:r>
            <a:endParaRPr lang="en-US" sz="1000" dirty="0"/>
          </a:p>
        </p:txBody>
      </p:sp>
      <p:sp>
        <p:nvSpPr>
          <p:cNvPr id="8" name="Text 6"/>
          <p:cNvSpPr/>
          <p:nvPr/>
        </p:nvSpPr>
        <p:spPr>
          <a:xfrm>
            <a:off x="676656" y="1847088"/>
            <a:ext cx="2286000" cy="292608"/>
          </a:xfrm>
          <a:prstGeom prst="rect">
            <a:avLst/>
          </a:prstGeom>
          <a:noFill/>
          <a:ln/>
        </p:spPr>
        <p:txBody>
          <a:bodyPr wrap="square" lIns="0" tIns="0" rIns="0" bIns="0" rtlCol="0" anchor="ctr">
            <a:normAutofit/>
          </a:bodyPr>
          <a:lstStyle/>
          <a:p>
            <a:pPr marL="0" indent="0">
              <a:buNone/>
            </a:pPr>
            <a:r>
              <a:rPr lang="en-US" sz="1200" b="1" dirty="0">
                <a:solidFill>
                  <a:srgbClr val="009187"/>
                </a:solidFill>
                <a:latin typeface="Aptos" pitchFamily="34" charset="0"/>
                <a:ea typeface="Aptos" pitchFamily="34" charset="-122"/>
                <a:cs typeface="Aptos" pitchFamily="34" charset="-120"/>
              </a:rPr>
              <a:t>ADMIN</a:t>
            </a:r>
            <a:endParaRPr lang="en-US" sz="1200" dirty="0"/>
          </a:p>
        </p:txBody>
      </p:sp>
      <p:sp>
        <p:nvSpPr>
          <p:cNvPr id="9" name="Text 7"/>
          <p:cNvSpPr/>
          <p:nvPr/>
        </p:nvSpPr>
        <p:spPr>
          <a:xfrm>
            <a:off x="676656" y="2304288"/>
            <a:ext cx="5440680" cy="2697480"/>
          </a:xfrm>
          <a:prstGeom prst="rect">
            <a:avLst/>
          </a:prstGeom>
          <a:noFill/>
          <a:ln/>
        </p:spPr>
        <p:txBody>
          <a:bodyPr wrap="square" lIns="0" tIns="0" rIns="0" bIns="0" rtlCol="0" anchor="t">
            <a:normAutofit/>
          </a:bodyPr>
          <a:lstStyle/>
          <a:p>
            <a:pPr marL="0" indent="0">
              <a:buNone/>
            </a:pPr>
            <a:r>
              <a:rPr lang="en-US" sz="1900" dirty="0">
                <a:solidFill>
                  <a:srgbClr val="132537"/>
                </a:solidFill>
                <a:latin typeface="Aptos" pitchFamily="34" charset="0"/>
                <a:ea typeface="Aptos" pitchFamily="34" charset="-122"/>
                <a:cs typeface="Aptos" pitchFamily="34" charset="-120"/>
              </a:rPr>
              <a:t>Login and dashboard</a:t>
            </a:r>
            <a:endParaRPr lang="en-US" sz="1900" dirty="0"/>
          </a:p>
          <a:p>
            <a:pPr marL="0" indent="0">
              <a:buNone/>
            </a:pPr>
            <a:r>
              <a:rPr lang="en-US" sz="1900" dirty="0">
                <a:solidFill>
                  <a:srgbClr val="132537"/>
                </a:solidFill>
                <a:latin typeface="Aptos" pitchFamily="34" charset="0"/>
                <a:ea typeface="Aptos" pitchFamily="34" charset="-122"/>
                <a:cs typeface="Aptos" pitchFamily="34" charset="-120"/>
              </a:rPr>
              <a:t>Student add, edit, search, transfer</a:t>
            </a:r>
            <a:endParaRPr lang="en-US" sz="1900" dirty="0"/>
          </a:p>
          <a:p>
            <a:pPr marL="0" indent="0">
              <a:buNone/>
            </a:pPr>
            <a:r>
              <a:rPr lang="en-US" sz="1900" dirty="0">
                <a:solidFill>
                  <a:srgbClr val="132537"/>
                </a:solidFill>
                <a:latin typeface="Aptos" pitchFamily="34" charset="0"/>
                <a:ea typeface="Aptos" pitchFamily="34" charset="-122"/>
                <a:cs typeface="Aptos" pitchFamily="34" charset="-120"/>
              </a:rPr>
              <a:t>Section add, edit, archive or remove</a:t>
            </a:r>
            <a:endParaRPr lang="en-US" sz="1900" dirty="0"/>
          </a:p>
          <a:p>
            <a:pPr marL="0" indent="0">
              <a:buNone/>
            </a:pPr>
            <a:r>
              <a:rPr lang="en-US" sz="1900" dirty="0">
                <a:solidFill>
                  <a:srgbClr val="132537"/>
                </a:solidFill>
                <a:latin typeface="Aptos" pitchFamily="34" charset="0"/>
                <a:ea typeface="Aptos" pitchFamily="34" charset="-122"/>
                <a:cs typeface="Aptos" pitchFamily="34" charset="-120"/>
              </a:rPr>
              <a:t>Grade entry, averages, and remarks</a:t>
            </a:r>
            <a:endParaRPr lang="en-US" sz="1900" dirty="0"/>
          </a:p>
          <a:p>
            <a:pPr marL="0" indent="0">
              <a:buNone/>
            </a:pPr>
            <a:r>
              <a:rPr lang="en-US" sz="1900" dirty="0">
                <a:solidFill>
                  <a:srgbClr val="132537"/>
                </a:solidFill>
                <a:latin typeface="Aptos" pitchFamily="34" charset="0"/>
                <a:ea typeface="Aptos" pitchFamily="34" charset="-122"/>
                <a:cs typeface="Aptos" pitchFamily="34" charset="-120"/>
              </a:rPr>
              <a:t>School settings</a:t>
            </a:r>
            <a:endParaRPr lang="en-US" sz="1900" dirty="0"/>
          </a:p>
        </p:txBody>
      </p:sp>
      <p:sp>
        <p:nvSpPr>
          <p:cNvPr id="10" name="Shape 8"/>
          <p:cNvSpPr/>
          <p:nvPr/>
        </p:nvSpPr>
        <p:spPr>
          <a:xfrm>
            <a:off x="6473952" y="1764792"/>
            <a:ext cx="4654296" cy="3255264"/>
          </a:xfrm>
          <a:prstGeom prst="roundRect">
            <a:avLst>
              <a:gd name="adj" fmla="val 2247"/>
            </a:avLst>
          </a:prstGeom>
          <a:solidFill>
            <a:srgbClr val="FFFFFC"/>
          </a:solidFill>
          <a:ln w="10160">
            <a:solidFill>
              <a:srgbClr val="D7DEDC"/>
            </a:solidFill>
            <a:prstDash val="solid"/>
          </a:ln>
        </p:spPr>
      </p:sp>
      <p:pic>
        <p:nvPicPr>
          <p:cNvPr id="11" name="Image 0" descr="C:\Users\SCHOOL PROJECT\Documents\Enrollment-system-main\presentation_assets\slide03-enrollment.png"/>
          <p:cNvPicPr>
            <a:picLocks noChangeAspect="1"/>
          </p:cNvPicPr>
          <p:nvPr/>
        </p:nvPicPr>
        <p:blipFill>
          <a:blip r:embed="rId3"/>
          <a:stretch>
            <a:fillRect/>
          </a:stretch>
        </p:blipFill>
        <p:spPr>
          <a:xfrm>
            <a:off x="6537960" y="1977962"/>
            <a:ext cx="4526280" cy="2828925"/>
          </a:xfrm>
          <a:prstGeom prst="rect">
            <a:avLst/>
          </a:prstGeom>
        </p:spPr>
      </p:pic>
      <p:sp>
        <p:nvSpPr>
          <p:cNvPr id="12" name="Shape 9"/>
          <p:cNvSpPr/>
          <p:nvPr/>
        </p:nvSpPr>
        <p:spPr>
          <a:xfrm>
            <a:off x="7936992" y="5257800"/>
            <a:ext cx="1737360" cy="283464"/>
          </a:xfrm>
          <a:prstGeom prst="roundRect">
            <a:avLst>
              <a:gd name="adj" fmla="val 25806"/>
            </a:avLst>
          </a:prstGeom>
          <a:solidFill>
            <a:srgbClr val="009187"/>
          </a:solidFill>
          <a:ln w="12700">
            <a:solidFill>
              <a:srgbClr val="009187"/>
            </a:solidFill>
            <a:prstDash val="solid"/>
          </a:ln>
        </p:spPr>
      </p:sp>
      <p:sp>
        <p:nvSpPr>
          <p:cNvPr id="13" name="Text 10"/>
          <p:cNvSpPr/>
          <p:nvPr/>
        </p:nvSpPr>
        <p:spPr>
          <a:xfrm>
            <a:off x="7982712" y="5271516"/>
            <a:ext cx="1645920" cy="23774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ENROLLMENT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04 / ARCHITECTURE</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A simple three-layer architecture</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The browser never connects directly to the spreadsheet.</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777240" y="2286000"/>
            <a:ext cx="3200400" cy="1325880"/>
          </a:xfrm>
          <a:prstGeom prst="roundRect">
            <a:avLst>
              <a:gd name="adj" fmla="val 5517"/>
            </a:avLst>
          </a:prstGeom>
          <a:solidFill>
            <a:srgbClr val="12263B"/>
          </a:solidFill>
          <a:ln w="12700">
            <a:solidFill>
              <a:srgbClr val="12263B"/>
            </a:solidFill>
            <a:prstDash val="solid"/>
          </a:ln>
        </p:spPr>
      </p:sp>
      <p:sp>
        <p:nvSpPr>
          <p:cNvPr id="9" name="Text 7"/>
          <p:cNvSpPr/>
          <p:nvPr/>
        </p:nvSpPr>
        <p:spPr>
          <a:xfrm>
            <a:off x="1033272" y="2578608"/>
            <a:ext cx="2697480" cy="27432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ptos" pitchFamily="34" charset="0"/>
                <a:ea typeface="Aptos" pitchFamily="34" charset="-122"/>
                <a:cs typeface="Aptos" pitchFamily="34" charset="-120"/>
              </a:rPr>
              <a:t>ADMIN</a:t>
            </a:r>
            <a:endParaRPr lang="en-US" sz="1600" dirty="0"/>
          </a:p>
        </p:txBody>
      </p:sp>
      <p:sp>
        <p:nvSpPr>
          <p:cNvPr id="10" name="Text 8"/>
          <p:cNvSpPr/>
          <p:nvPr/>
        </p:nvSpPr>
        <p:spPr>
          <a:xfrm>
            <a:off x="1033272" y="3063240"/>
            <a:ext cx="2697480" cy="438912"/>
          </a:xfrm>
          <a:prstGeom prst="rect">
            <a:avLst/>
          </a:prstGeom>
          <a:noFill/>
          <a:ln/>
        </p:spPr>
        <p:txBody>
          <a:bodyPr wrap="square" lIns="0" tIns="0" rIns="0" bIns="0" rtlCol="0" anchor="ctr">
            <a:normAutofit/>
          </a:bodyPr>
          <a:lstStyle/>
          <a:p>
            <a:pPr marL="0" indent="0">
              <a:buNone/>
            </a:pPr>
            <a:r>
              <a:rPr lang="en-US" sz="1200" dirty="0">
                <a:solidFill>
                  <a:srgbClr val="D9E7EC"/>
                </a:solidFill>
                <a:latin typeface="Aptos" pitchFamily="34" charset="0"/>
                <a:ea typeface="Aptos" pitchFamily="34" charset="-122"/>
                <a:cs typeface="Aptos" pitchFamily="34" charset="-120"/>
              </a:rPr>
              <a:t>Uses the system</a:t>
            </a:r>
            <a:endParaRPr lang="en-US" sz="1200" dirty="0"/>
          </a:p>
        </p:txBody>
      </p:sp>
      <p:sp>
        <p:nvSpPr>
          <p:cNvPr id="11" name="Shape 9"/>
          <p:cNvSpPr/>
          <p:nvPr/>
        </p:nvSpPr>
        <p:spPr>
          <a:xfrm>
            <a:off x="4315968" y="2286000"/>
            <a:ext cx="3200400" cy="1325880"/>
          </a:xfrm>
          <a:prstGeom prst="roundRect">
            <a:avLst>
              <a:gd name="adj" fmla="val 5517"/>
            </a:avLst>
          </a:prstGeom>
          <a:solidFill>
            <a:srgbClr val="009187"/>
          </a:solidFill>
          <a:ln w="12700">
            <a:solidFill>
              <a:srgbClr val="009187"/>
            </a:solidFill>
            <a:prstDash val="solid"/>
          </a:ln>
        </p:spPr>
      </p:sp>
      <p:sp>
        <p:nvSpPr>
          <p:cNvPr id="12" name="Text 10"/>
          <p:cNvSpPr/>
          <p:nvPr/>
        </p:nvSpPr>
        <p:spPr>
          <a:xfrm>
            <a:off x="4572000" y="2578608"/>
            <a:ext cx="2697480" cy="27432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ptos" pitchFamily="34" charset="0"/>
                <a:ea typeface="Aptos" pitchFamily="34" charset="-122"/>
                <a:cs typeface="Aptos" pitchFamily="34" charset="-120"/>
              </a:rPr>
              <a:t>WEB FRONT END</a:t>
            </a:r>
            <a:endParaRPr lang="en-US" sz="1600" dirty="0"/>
          </a:p>
        </p:txBody>
      </p:sp>
      <p:sp>
        <p:nvSpPr>
          <p:cNvPr id="13" name="Text 11"/>
          <p:cNvSpPr/>
          <p:nvPr/>
        </p:nvSpPr>
        <p:spPr>
          <a:xfrm>
            <a:off x="4572000" y="3063240"/>
            <a:ext cx="2697480" cy="438912"/>
          </a:xfrm>
          <a:prstGeom prst="rect">
            <a:avLst/>
          </a:prstGeom>
          <a:noFill/>
          <a:ln/>
        </p:spPr>
        <p:txBody>
          <a:bodyPr wrap="square" lIns="0" tIns="0" rIns="0" bIns="0" rtlCol="0" anchor="ctr">
            <a:normAutofit/>
          </a:bodyPr>
          <a:lstStyle/>
          <a:p>
            <a:pPr marL="0" indent="0">
              <a:buNone/>
            </a:pPr>
            <a:r>
              <a:rPr lang="en-US" sz="1200" dirty="0">
                <a:solidFill>
                  <a:srgbClr val="D9E7EC"/>
                </a:solidFill>
                <a:latin typeface="Aptos" pitchFamily="34" charset="0"/>
                <a:ea typeface="Aptos" pitchFamily="34" charset="-122"/>
                <a:cs typeface="Aptos" pitchFamily="34" charset="-120"/>
              </a:rPr>
              <a:t>HTML / CSS / JavaScript</a:t>
            </a:r>
            <a:endParaRPr lang="en-US" sz="1200" dirty="0"/>
          </a:p>
        </p:txBody>
      </p:sp>
      <p:sp>
        <p:nvSpPr>
          <p:cNvPr id="14" name="Shape 12"/>
          <p:cNvSpPr/>
          <p:nvPr/>
        </p:nvSpPr>
        <p:spPr>
          <a:xfrm>
            <a:off x="7845552" y="2286000"/>
            <a:ext cx="3200400" cy="1325880"/>
          </a:xfrm>
          <a:prstGeom prst="roundRect">
            <a:avLst>
              <a:gd name="adj" fmla="val 5517"/>
            </a:avLst>
          </a:prstGeom>
          <a:solidFill>
            <a:srgbClr val="12263B"/>
          </a:solidFill>
          <a:ln w="12700">
            <a:solidFill>
              <a:srgbClr val="12263B"/>
            </a:solidFill>
            <a:prstDash val="solid"/>
          </a:ln>
        </p:spPr>
      </p:sp>
      <p:sp>
        <p:nvSpPr>
          <p:cNvPr id="15" name="Text 13"/>
          <p:cNvSpPr/>
          <p:nvPr/>
        </p:nvSpPr>
        <p:spPr>
          <a:xfrm>
            <a:off x="8101584" y="2578608"/>
            <a:ext cx="2697480" cy="27432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ptos" pitchFamily="34" charset="0"/>
                <a:ea typeface="Aptos" pitchFamily="34" charset="-122"/>
                <a:cs typeface="Aptos" pitchFamily="34" charset="-120"/>
              </a:rPr>
              <a:t>APPS SCRIPT API</a:t>
            </a:r>
            <a:endParaRPr lang="en-US" sz="1600" dirty="0"/>
          </a:p>
        </p:txBody>
      </p:sp>
      <p:sp>
        <p:nvSpPr>
          <p:cNvPr id="16" name="Text 14"/>
          <p:cNvSpPr/>
          <p:nvPr/>
        </p:nvSpPr>
        <p:spPr>
          <a:xfrm>
            <a:off x="8101584" y="3063240"/>
            <a:ext cx="2697480" cy="438912"/>
          </a:xfrm>
          <a:prstGeom prst="rect">
            <a:avLst/>
          </a:prstGeom>
          <a:noFill/>
          <a:ln/>
        </p:spPr>
        <p:txBody>
          <a:bodyPr wrap="square" lIns="0" tIns="0" rIns="0" bIns="0" rtlCol="0" anchor="ctr">
            <a:normAutofit/>
          </a:bodyPr>
          <a:lstStyle/>
          <a:p>
            <a:pPr marL="0" indent="0">
              <a:buNone/>
            </a:pPr>
            <a:r>
              <a:rPr lang="en-US" sz="1200" dirty="0">
                <a:solidFill>
                  <a:srgbClr val="D9E7EC"/>
                </a:solidFill>
                <a:latin typeface="Aptos" pitchFamily="34" charset="0"/>
                <a:ea typeface="Aptos" pitchFamily="34" charset="-122"/>
                <a:cs typeface="Aptos" pitchFamily="34" charset="-120"/>
              </a:rPr>
              <a:t>Authentication / validation / operations</a:t>
            </a:r>
            <a:endParaRPr lang="en-US" sz="1200" dirty="0"/>
          </a:p>
        </p:txBody>
      </p:sp>
      <p:sp>
        <p:nvSpPr>
          <p:cNvPr id="17" name="Text 15"/>
          <p:cNvSpPr/>
          <p:nvPr/>
        </p:nvSpPr>
        <p:spPr>
          <a:xfrm>
            <a:off x="3977640" y="2679192"/>
            <a:ext cx="256032" cy="411480"/>
          </a:xfrm>
          <a:prstGeom prst="rect">
            <a:avLst/>
          </a:prstGeom>
          <a:noFill/>
          <a:ln/>
        </p:spPr>
        <p:txBody>
          <a:bodyPr wrap="square" lIns="0" tIns="0" rIns="0" bIns="0" rtlCol="0" anchor="ctr">
            <a:normAutofit/>
          </a:bodyPr>
          <a:lstStyle/>
          <a:p>
            <a:pPr marL="0" indent="0" algn="ctr">
              <a:buNone/>
            </a:pPr>
            <a:r>
              <a:rPr lang="en-US" sz="2500" b="1" dirty="0">
                <a:solidFill>
                  <a:srgbClr val="D96952"/>
                </a:solidFill>
                <a:latin typeface="Aptos" pitchFamily="34" charset="0"/>
                <a:ea typeface="Aptos" pitchFamily="34" charset="-122"/>
                <a:cs typeface="Aptos" pitchFamily="34" charset="-120"/>
              </a:rPr>
              <a:t>&gt;</a:t>
            </a:r>
            <a:endParaRPr lang="en-US" sz="2500" dirty="0"/>
          </a:p>
        </p:txBody>
      </p:sp>
      <p:sp>
        <p:nvSpPr>
          <p:cNvPr id="18" name="Text 16"/>
          <p:cNvSpPr/>
          <p:nvPr/>
        </p:nvSpPr>
        <p:spPr>
          <a:xfrm>
            <a:off x="7498080" y="2679192"/>
            <a:ext cx="256032" cy="411480"/>
          </a:xfrm>
          <a:prstGeom prst="rect">
            <a:avLst/>
          </a:prstGeom>
          <a:noFill/>
          <a:ln/>
        </p:spPr>
        <p:txBody>
          <a:bodyPr wrap="square" lIns="0" tIns="0" rIns="0" bIns="0" rtlCol="0" anchor="ctr">
            <a:normAutofit/>
          </a:bodyPr>
          <a:lstStyle/>
          <a:p>
            <a:pPr marL="0" indent="0" algn="ctr">
              <a:buNone/>
            </a:pPr>
            <a:r>
              <a:rPr lang="en-US" sz="2500" b="1" dirty="0">
                <a:solidFill>
                  <a:srgbClr val="D96952"/>
                </a:solidFill>
                <a:latin typeface="Aptos" pitchFamily="34" charset="0"/>
                <a:ea typeface="Aptos" pitchFamily="34" charset="-122"/>
                <a:cs typeface="Aptos" pitchFamily="34" charset="-120"/>
              </a:rPr>
              <a:t>&gt;</a:t>
            </a:r>
            <a:endParaRPr lang="en-US" sz="2500" dirty="0"/>
          </a:p>
        </p:txBody>
      </p:sp>
      <p:sp>
        <p:nvSpPr>
          <p:cNvPr id="19" name="Shape 17"/>
          <p:cNvSpPr/>
          <p:nvPr/>
        </p:nvSpPr>
        <p:spPr>
          <a:xfrm>
            <a:off x="3337560" y="4434840"/>
            <a:ext cx="5532120" cy="987552"/>
          </a:xfrm>
          <a:prstGeom prst="roundRect">
            <a:avLst>
              <a:gd name="adj" fmla="val 7407"/>
            </a:avLst>
          </a:prstGeom>
          <a:solidFill>
            <a:srgbClr val="FFFFFC"/>
          </a:solidFill>
          <a:ln w="10160">
            <a:solidFill>
              <a:srgbClr val="D7DEDC"/>
            </a:solidFill>
            <a:prstDash val="solid"/>
          </a:ln>
        </p:spPr>
      </p:sp>
      <p:sp>
        <p:nvSpPr>
          <p:cNvPr id="20" name="Text 18"/>
          <p:cNvSpPr/>
          <p:nvPr/>
        </p:nvSpPr>
        <p:spPr>
          <a:xfrm>
            <a:off x="3730752" y="4645152"/>
            <a:ext cx="4663440" cy="228600"/>
          </a:xfrm>
          <a:prstGeom prst="rect">
            <a:avLst/>
          </a:prstGeom>
          <a:noFill/>
          <a:ln/>
        </p:spPr>
        <p:txBody>
          <a:bodyPr wrap="square" lIns="0" tIns="0" rIns="0" bIns="0" rtlCol="0" anchor="ctr">
            <a:normAutofit/>
          </a:bodyPr>
          <a:lstStyle/>
          <a:p>
            <a:pPr marL="0" indent="0" algn="ctr">
              <a:buNone/>
            </a:pPr>
            <a:r>
              <a:rPr lang="en-US" sz="1500" b="1" dirty="0">
                <a:solidFill>
                  <a:srgbClr val="132537"/>
                </a:solidFill>
                <a:latin typeface="Aptos" pitchFamily="34" charset="0"/>
                <a:ea typeface="Aptos" pitchFamily="34" charset="-122"/>
                <a:cs typeface="Aptos" pitchFamily="34" charset="-120"/>
              </a:rPr>
              <a:t>GOOGLE SHEETS DATABASE</a:t>
            </a:r>
            <a:endParaRPr lang="en-US" sz="1500" dirty="0"/>
          </a:p>
        </p:txBody>
      </p:sp>
      <p:sp>
        <p:nvSpPr>
          <p:cNvPr id="21" name="Text 19"/>
          <p:cNvSpPr/>
          <p:nvPr/>
        </p:nvSpPr>
        <p:spPr>
          <a:xfrm>
            <a:off x="3730752" y="4992624"/>
            <a:ext cx="4663440" cy="219456"/>
          </a:xfrm>
          <a:prstGeom prst="rect">
            <a:avLst/>
          </a:prstGeom>
          <a:noFill/>
          <a:ln/>
        </p:spPr>
        <p:txBody>
          <a:bodyPr wrap="square" lIns="0" tIns="0" rIns="0" bIns="0" rtlCol="0" anchor="ctr">
            <a:normAutofit/>
          </a:bodyPr>
          <a:lstStyle/>
          <a:p>
            <a:pPr marL="0" indent="0" algn="ctr">
              <a:buNone/>
            </a:pPr>
            <a:r>
              <a:rPr lang="en-US" sz="1100" dirty="0">
                <a:solidFill>
                  <a:srgbClr val="5F707C"/>
                </a:solidFill>
                <a:latin typeface="Aptos" pitchFamily="34" charset="0"/>
                <a:ea typeface="Aptos" pitchFamily="34" charset="-122"/>
                <a:cs typeface="Aptos" pitchFamily="34" charset="-120"/>
              </a:rPr>
              <a:t>Users / Students / Sections / Grades / Settings</a:t>
            </a:r>
            <a:endParaRPr lang="en-US" sz="1100" dirty="0"/>
          </a:p>
        </p:txBody>
      </p:sp>
      <p:sp>
        <p:nvSpPr>
          <p:cNvPr id="22" name="Text 20"/>
          <p:cNvSpPr/>
          <p:nvPr/>
        </p:nvSpPr>
        <p:spPr>
          <a:xfrm>
            <a:off x="5961888" y="3776472"/>
            <a:ext cx="292608" cy="411480"/>
          </a:xfrm>
          <a:prstGeom prst="rect">
            <a:avLst/>
          </a:prstGeom>
          <a:noFill/>
          <a:ln/>
        </p:spPr>
        <p:txBody>
          <a:bodyPr wrap="square" lIns="0" tIns="0" rIns="0" bIns="0" rtlCol="0" anchor="ctr">
            <a:normAutofit/>
          </a:bodyPr>
          <a:lstStyle/>
          <a:p>
            <a:pPr marL="0" indent="0" algn="ctr">
              <a:buNone/>
            </a:pPr>
            <a:r>
              <a:rPr lang="en-US" sz="2400" b="1" dirty="0">
                <a:solidFill>
                  <a:srgbClr val="D96952"/>
                </a:solidFill>
                <a:latin typeface="Aptos" pitchFamily="34" charset="0"/>
                <a:ea typeface="Aptos" pitchFamily="34" charset="-122"/>
                <a:cs typeface="Aptos" pitchFamily="34" charset="-120"/>
              </a:rPr>
              <a:t>v</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05 / DATA</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Spreadsheet tables keep records organized</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Each sheet has a focused responsibility.</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658368" y="1828800"/>
            <a:ext cx="3401568" cy="1170432"/>
          </a:xfrm>
          <a:prstGeom prst="roundRect">
            <a:avLst>
              <a:gd name="adj" fmla="val 6250"/>
            </a:avLst>
          </a:prstGeom>
          <a:solidFill>
            <a:srgbClr val="FFFFFC"/>
          </a:solidFill>
          <a:ln w="10160">
            <a:solidFill>
              <a:srgbClr val="D7DEDC"/>
            </a:solidFill>
            <a:prstDash val="solid"/>
          </a:ln>
        </p:spPr>
      </p:sp>
      <p:sp>
        <p:nvSpPr>
          <p:cNvPr id="9" name="Shape 7"/>
          <p:cNvSpPr/>
          <p:nvPr/>
        </p:nvSpPr>
        <p:spPr>
          <a:xfrm>
            <a:off x="658368" y="1828800"/>
            <a:ext cx="82296" cy="1170432"/>
          </a:xfrm>
          <a:prstGeom prst="rect">
            <a:avLst/>
          </a:prstGeom>
          <a:solidFill>
            <a:srgbClr val="009187"/>
          </a:solidFill>
          <a:ln w="12700">
            <a:solidFill>
              <a:srgbClr val="009187">
                <a:alpha val="0"/>
              </a:srgbClr>
            </a:solidFill>
            <a:prstDash val="solid"/>
          </a:ln>
        </p:spPr>
      </p:sp>
      <p:sp>
        <p:nvSpPr>
          <p:cNvPr id="10" name="Text 8"/>
          <p:cNvSpPr/>
          <p:nvPr/>
        </p:nvSpPr>
        <p:spPr>
          <a:xfrm>
            <a:off x="950976" y="2048256"/>
            <a:ext cx="2834640" cy="256032"/>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USERS</a:t>
            </a:r>
            <a:endParaRPr lang="en-US" sz="1400" dirty="0"/>
          </a:p>
        </p:txBody>
      </p:sp>
      <p:sp>
        <p:nvSpPr>
          <p:cNvPr id="11" name="Text 9"/>
          <p:cNvSpPr/>
          <p:nvPr/>
        </p:nvSpPr>
        <p:spPr>
          <a:xfrm>
            <a:off x="950976" y="2441448"/>
            <a:ext cx="2834640" cy="329184"/>
          </a:xfrm>
          <a:prstGeom prst="rect">
            <a:avLst/>
          </a:prstGeom>
          <a:noFill/>
          <a:ln/>
        </p:spPr>
        <p:txBody>
          <a:bodyPr wrap="square" lIns="0" tIns="0" rIns="0" bIns="0" rtlCol="0" anchor="ctr">
            <a:normAutofit/>
          </a:bodyPr>
          <a:lstStyle/>
          <a:p>
            <a:pPr marL="0" indent="0">
              <a:buNone/>
            </a:pPr>
            <a:r>
              <a:rPr lang="en-US" sz="1200" dirty="0">
                <a:solidFill>
                  <a:srgbClr val="5F707C"/>
                </a:solidFill>
                <a:latin typeface="Aptos" pitchFamily="34" charset="0"/>
                <a:ea typeface="Aptos" pitchFamily="34" charset="-122"/>
                <a:cs typeface="Aptos" pitchFamily="34" charset="-120"/>
              </a:rPr>
              <a:t>Admin account, role, status</a:t>
            </a:r>
            <a:endParaRPr lang="en-US" sz="1200" dirty="0"/>
          </a:p>
        </p:txBody>
      </p:sp>
      <p:sp>
        <p:nvSpPr>
          <p:cNvPr id="12" name="Shape 10"/>
          <p:cNvSpPr/>
          <p:nvPr/>
        </p:nvSpPr>
        <p:spPr>
          <a:xfrm>
            <a:off x="4434840" y="1828800"/>
            <a:ext cx="3401568" cy="1170432"/>
          </a:xfrm>
          <a:prstGeom prst="roundRect">
            <a:avLst>
              <a:gd name="adj" fmla="val 6250"/>
            </a:avLst>
          </a:prstGeom>
          <a:solidFill>
            <a:srgbClr val="FFFFFC"/>
          </a:solidFill>
          <a:ln w="10160">
            <a:solidFill>
              <a:srgbClr val="D7DEDC"/>
            </a:solidFill>
            <a:prstDash val="solid"/>
          </a:ln>
        </p:spPr>
      </p:sp>
      <p:sp>
        <p:nvSpPr>
          <p:cNvPr id="13" name="Shape 11"/>
          <p:cNvSpPr/>
          <p:nvPr/>
        </p:nvSpPr>
        <p:spPr>
          <a:xfrm>
            <a:off x="4434840" y="1828800"/>
            <a:ext cx="82296" cy="1170432"/>
          </a:xfrm>
          <a:prstGeom prst="rect">
            <a:avLst/>
          </a:prstGeom>
          <a:solidFill>
            <a:srgbClr val="D96952"/>
          </a:solidFill>
          <a:ln w="12700">
            <a:solidFill>
              <a:srgbClr val="D96952">
                <a:alpha val="0"/>
              </a:srgbClr>
            </a:solidFill>
            <a:prstDash val="solid"/>
          </a:ln>
        </p:spPr>
      </p:sp>
      <p:sp>
        <p:nvSpPr>
          <p:cNvPr id="14" name="Text 12"/>
          <p:cNvSpPr/>
          <p:nvPr/>
        </p:nvSpPr>
        <p:spPr>
          <a:xfrm>
            <a:off x="4727448" y="2048256"/>
            <a:ext cx="2834640" cy="256032"/>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STUDENTS</a:t>
            </a:r>
            <a:endParaRPr lang="en-US" sz="1400" dirty="0"/>
          </a:p>
        </p:txBody>
      </p:sp>
      <p:sp>
        <p:nvSpPr>
          <p:cNvPr id="15" name="Text 13"/>
          <p:cNvSpPr/>
          <p:nvPr/>
        </p:nvSpPr>
        <p:spPr>
          <a:xfrm>
            <a:off x="4727448" y="2441448"/>
            <a:ext cx="2834640" cy="329184"/>
          </a:xfrm>
          <a:prstGeom prst="rect">
            <a:avLst/>
          </a:prstGeom>
          <a:noFill/>
          <a:ln/>
        </p:spPr>
        <p:txBody>
          <a:bodyPr wrap="square" lIns="0" tIns="0" rIns="0" bIns="0" rtlCol="0" anchor="ctr">
            <a:normAutofit/>
          </a:bodyPr>
          <a:lstStyle/>
          <a:p>
            <a:pPr marL="0" indent="0">
              <a:buNone/>
            </a:pPr>
            <a:r>
              <a:rPr lang="en-US" sz="1200" dirty="0">
                <a:solidFill>
                  <a:srgbClr val="5F707C"/>
                </a:solidFill>
                <a:latin typeface="Aptos" pitchFamily="34" charset="0"/>
                <a:ea typeface="Aptos" pitchFamily="34" charset="-122"/>
                <a:cs typeface="Aptos" pitchFamily="34" charset="-120"/>
              </a:rPr>
              <a:t>Student details and section</a:t>
            </a:r>
            <a:endParaRPr lang="en-US" sz="1200" dirty="0"/>
          </a:p>
        </p:txBody>
      </p:sp>
      <p:sp>
        <p:nvSpPr>
          <p:cNvPr id="16" name="Shape 14"/>
          <p:cNvSpPr/>
          <p:nvPr/>
        </p:nvSpPr>
        <p:spPr>
          <a:xfrm>
            <a:off x="8211312" y="1828800"/>
            <a:ext cx="3401568" cy="1170432"/>
          </a:xfrm>
          <a:prstGeom prst="roundRect">
            <a:avLst>
              <a:gd name="adj" fmla="val 6250"/>
            </a:avLst>
          </a:prstGeom>
          <a:solidFill>
            <a:srgbClr val="FFFFFC"/>
          </a:solidFill>
          <a:ln w="10160">
            <a:solidFill>
              <a:srgbClr val="D7DEDC"/>
            </a:solidFill>
            <a:prstDash val="solid"/>
          </a:ln>
        </p:spPr>
      </p:sp>
      <p:sp>
        <p:nvSpPr>
          <p:cNvPr id="17" name="Shape 15"/>
          <p:cNvSpPr/>
          <p:nvPr/>
        </p:nvSpPr>
        <p:spPr>
          <a:xfrm>
            <a:off x="8211312" y="1828800"/>
            <a:ext cx="82296" cy="1170432"/>
          </a:xfrm>
          <a:prstGeom prst="rect">
            <a:avLst/>
          </a:prstGeom>
          <a:solidFill>
            <a:srgbClr val="009187"/>
          </a:solidFill>
          <a:ln w="12700">
            <a:solidFill>
              <a:srgbClr val="009187">
                <a:alpha val="0"/>
              </a:srgbClr>
            </a:solidFill>
            <a:prstDash val="solid"/>
          </a:ln>
        </p:spPr>
      </p:sp>
      <p:sp>
        <p:nvSpPr>
          <p:cNvPr id="18" name="Text 16"/>
          <p:cNvSpPr/>
          <p:nvPr/>
        </p:nvSpPr>
        <p:spPr>
          <a:xfrm>
            <a:off x="8503920" y="2048256"/>
            <a:ext cx="2834640" cy="256032"/>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SECTIONS</a:t>
            </a:r>
            <a:endParaRPr lang="en-US" sz="1400" dirty="0"/>
          </a:p>
        </p:txBody>
      </p:sp>
      <p:sp>
        <p:nvSpPr>
          <p:cNvPr id="19" name="Text 17"/>
          <p:cNvSpPr/>
          <p:nvPr/>
        </p:nvSpPr>
        <p:spPr>
          <a:xfrm>
            <a:off x="8503920" y="2441448"/>
            <a:ext cx="2834640" cy="329184"/>
          </a:xfrm>
          <a:prstGeom prst="rect">
            <a:avLst/>
          </a:prstGeom>
          <a:noFill/>
          <a:ln/>
        </p:spPr>
        <p:txBody>
          <a:bodyPr wrap="square" lIns="0" tIns="0" rIns="0" bIns="0" rtlCol="0" anchor="ctr">
            <a:normAutofit/>
          </a:bodyPr>
          <a:lstStyle/>
          <a:p>
            <a:pPr marL="0" indent="0">
              <a:buNone/>
            </a:pPr>
            <a:r>
              <a:rPr lang="en-US" sz="1200" dirty="0">
                <a:solidFill>
                  <a:srgbClr val="5F707C"/>
                </a:solidFill>
                <a:latin typeface="Aptos" pitchFamily="34" charset="0"/>
                <a:ea typeface="Aptos" pitchFamily="34" charset="-122"/>
                <a:cs typeface="Aptos" pitchFamily="34" charset="-120"/>
              </a:rPr>
              <a:t>Grade level, name, status</a:t>
            </a:r>
            <a:endParaRPr lang="en-US" sz="1200" dirty="0"/>
          </a:p>
        </p:txBody>
      </p:sp>
      <p:sp>
        <p:nvSpPr>
          <p:cNvPr id="20" name="Shape 18"/>
          <p:cNvSpPr/>
          <p:nvPr/>
        </p:nvSpPr>
        <p:spPr>
          <a:xfrm>
            <a:off x="658368" y="3429000"/>
            <a:ext cx="3401568" cy="1170432"/>
          </a:xfrm>
          <a:prstGeom prst="roundRect">
            <a:avLst>
              <a:gd name="adj" fmla="val 6250"/>
            </a:avLst>
          </a:prstGeom>
          <a:solidFill>
            <a:srgbClr val="FFFFFC"/>
          </a:solidFill>
          <a:ln w="10160">
            <a:solidFill>
              <a:srgbClr val="D7DEDC"/>
            </a:solidFill>
            <a:prstDash val="solid"/>
          </a:ln>
        </p:spPr>
      </p:sp>
      <p:sp>
        <p:nvSpPr>
          <p:cNvPr id="21" name="Shape 19"/>
          <p:cNvSpPr/>
          <p:nvPr/>
        </p:nvSpPr>
        <p:spPr>
          <a:xfrm>
            <a:off x="658368" y="3429000"/>
            <a:ext cx="82296" cy="1170432"/>
          </a:xfrm>
          <a:prstGeom prst="rect">
            <a:avLst/>
          </a:prstGeom>
          <a:solidFill>
            <a:srgbClr val="D96952"/>
          </a:solidFill>
          <a:ln w="12700">
            <a:solidFill>
              <a:srgbClr val="D96952">
                <a:alpha val="0"/>
              </a:srgbClr>
            </a:solidFill>
            <a:prstDash val="solid"/>
          </a:ln>
        </p:spPr>
      </p:sp>
      <p:sp>
        <p:nvSpPr>
          <p:cNvPr id="22" name="Text 20"/>
          <p:cNvSpPr/>
          <p:nvPr/>
        </p:nvSpPr>
        <p:spPr>
          <a:xfrm>
            <a:off x="950976" y="3648456"/>
            <a:ext cx="2834640" cy="256032"/>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GRADES</a:t>
            </a:r>
            <a:endParaRPr lang="en-US" sz="1400" dirty="0"/>
          </a:p>
        </p:txBody>
      </p:sp>
      <p:sp>
        <p:nvSpPr>
          <p:cNvPr id="23" name="Text 21"/>
          <p:cNvSpPr/>
          <p:nvPr/>
        </p:nvSpPr>
        <p:spPr>
          <a:xfrm>
            <a:off x="950976" y="4041648"/>
            <a:ext cx="2834640" cy="329184"/>
          </a:xfrm>
          <a:prstGeom prst="rect">
            <a:avLst/>
          </a:prstGeom>
          <a:noFill/>
          <a:ln/>
        </p:spPr>
        <p:txBody>
          <a:bodyPr wrap="square" lIns="0" tIns="0" rIns="0" bIns="0" rtlCol="0" anchor="ctr">
            <a:normAutofit/>
          </a:bodyPr>
          <a:lstStyle/>
          <a:p>
            <a:pPr marL="0" indent="0">
              <a:buNone/>
            </a:pPr>
            <a:r>
              <a:rPr lang="en-US" sz="1200" dirty="0">
                <a:solidFill>
                  <a:srgbClr val="5F707C"/>
                </a:solidFill>
                <a:latin typeface="Aptos" pitchFamily="34" charset="0"/>
                <a:ea typeface="Aptos" pitchFamily="34" charset="-122"/>
                <a:cs typeface="Aptos" pitchFamily="34" charset="-120"/>
              </a:rPr>
              <a:t>Subject grade and academic period</a:t>
            </a:r>
            <a:endParaRPr lang="en-US" sz="1200" dirty="0"/>
          </a:p>
        </p:txBody>
      </p:sp>
      <p:sp>
        <p:nvSpPr>
          <p:cNvPr id="24" name="Shape 22"/>
          <p:cNvSpPr/>
          <p:nvPr/>
        </p:nvSpPr>
        <p:spPr>
          <a:xfrm>
            <a:off x="4434840" y="3429000"/>
            <a:ext cx="3401568" cy="1170432"/>
          </a:xfrm>
          <a:prstGeom prst="roundRect">
            <a:avLst>
              <a:gd name="adj" fmla="val 6250"/>
            </a:avLst>
          </a:prstGeom>
          <a:solidFill>
            <a:srgbClr val="FFFFFC"/>
          </a:solidFill>
          <a:ln w="10160">
            <a:solidFill>
              <a:srgbClr val="D7DEDC"/>
            </a:solidFill>
            <a:prstDash val="solid"/>
          </a:ln>
        </p:spPr>
      </p:sp>
      <p:sp>
        <p:nvSpPr>
          <p:cNvPr id="25" name="Shape 23"/>
          <p:cNvSpPr/>
          <p:nvPr/>
        </p:nvSpPr>
        <p:spPr>
          <a:xfrm>
            <a:off x="4434840" y="3429000"/>
            <a:ext cx="82296" cy="1170432"/>
          </a:xfrm>
          <a:prstGeom prst="rect">
            <a:avLst/>
          </a:prstGeom>
          <a:solidFill>
            <a:srgbClr val="009187"/>
          </a:solidFill>
          <a:ln w="12700">
            <a:solidFill>
              <a:srgbClr val="009187">
                <a:alpha val="0"/>
              </a:srgbClr>
            </a:solidFill>
            <a:prstDash val="solid"/>
          </a:ln>
        </p:spPr>
      </p:sp>
      <p:sp>
        <p:nvSpPr>
          <p:cNvPr id="26" name="Text 24"/>
          <p:cNvSpPr/>
          <p:nvPr/>
        </p:nvSpPr>
        <p:spPr>
          <a:xfrm>
            <a:off x="4727448" y="3648456"/>
            <a:ext cx="2834640" cy="256032"/>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SETTINGS</a:t>
            </a:r>
            <a:endParaRPr lang="en-US" sz="1400" dirty="0"/>
          </a:p>
        </p:txBody>
      </p:sp>
      <p:sp>
        <p:nvSpPr>
          <p:cNvPr id="27" name="Text 25"/>
          <p:cNvSpPr/>
          <p:nvPr/>
        </p:nvSpPr>
        <p:spPr>
          <a:xfrm>
            <a:off x="4727448" y="4041648"/>
            <a:ext cx="2834640" cy="329184"/>
          </a:xfrm>
          <a:prstGeom prst="rect">
            <a:avLst/>
          </a:prstGeom>
          <a:noFill/>
          <a:ln/>
        </p:spPr>
        <p:txBody>
          <a:bodyPr wrap="square" lIns="0" tIns="0" rIns="0" bIns="0" rtlCol="0" anchor="ctr">
            <a:normAutofit/>
          </a:bodyPr>
          <a:lstStyle/>
          <a:p>
            <a:pPr marL="0" indent="0">
              <a:buNone/>
            </a:pPr>
            <a:r>
              <a:rPr lang="en-US" sz="1200" dirty="0">
                <a:solidFill>
                  <a:srgbClr val="5F707C"/>
                </a:solidFill>
                <a:latin typeface="Aptos" pitchFamily="34" charset="0"/>
                <a:ea typeface="Aptos" pitchFamily="34" charset="-122"/>
                <a:cs typeface="Aptos" pitchFamily="34" charset="-120"/>
              </a:rPr>
              <a:t>School, year, subjects, passing grade</a:t>
            </a:r>
            <a:endParaRPr lang="en-US" sz="1200" dirty="0"/>
          </a:p>
        </p:txBody>
      </p:sp>
      <p:sp>
        <p:nvSpPr>
          <p:cNvPr id="28" name="Shape 26"/>
          <p:cNvSpPr/>
          <p:nvPr/>
        </p:nvSpPr>
        <p:spPr>
          <a:xfrm>
            <a:off x="8211312" y="3429000"/>
            <a:ext cx="3401568" cy="1170432"/>
          </a:xfrm>
          <a:prstGeom prst="roundRect">
            <a:avLst>
              <a:gd name="adj" fmla="val 6250"/>
            </a:avLst>
          </a:prstGeom>
          <a:solidFill>
            <a:srgbClr val="FFFFFC"/>
          </a:solidFill>
          <a:ln w="10160">
            <a:solidFill>
              <a:srgbClr val="D7DEDC"/>
            </a:solidFill>
            <a:prstDash val="solid"/>
          </a:ln>
        </p:spPr>
      </p:sp>
      <p:sp>
        <p:nvSpPr>
          <p:cNvPr id="29" name="Shape 27"/>
          <p:cNvSpPr/>
          <p:nvPr/>
        </p:nvSpPr>
        <p:spPr>
          <a:xfrm>
            <a:off x="8211312" y="3429000"/>
            <a:ext cx="82296" cy="1170432"/>
          </a:xfrm>
          <a:prstGeom prst="rect">
            <a:avLst/>
          </a:prstGeom>
          <a:solidFill>
            <a:srgbClr val="D96952"/>
          </a:solidFill>
          <a:ln w="12700">
            <a:solidFill>
              <a:srgbClr val="D96952">
                <a:alpha val="0"/>
              </a:srgbClr>
            </a:solidFill>
            <a:prstDash val="solid"/>
          </a:ln>
        </p:spPr>
      </p:sp>
      <p:sp>
        <p:nvSpPr>
          <p:cNvPr id="30" name="Text 28"/>
          <p:cNvSpPr/>
          <p:nvPr/>
        </p:nvSpPr>
        <p:spPr>
          <a:xfrm>
            <a:off x="8503920" y="3648456"/>
            <a:ext cx="2834640" cy="256032"/>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ACTIVITY LOGS</a:t>
            </a:r>
            <a:endParaRPr lang="en-US" sz="1400" dirty="0"/>
          </a:p>
        </p:txBody>
      </p:sp>
      <p:sp>
        <p:nvSpPr>
          <p:cNvPr id="31" name="Text 29"/>
          <p:cNvSpPr/>
          <p:nvPr/>
        </p:nvSpPr>
        <p:spPr>
          <a:xfrm>
            <a:off x="8503920" y="4041648"/>
            <a:ext cx="2834640" cy="329184"/>
          </a:xfrm>
          <a:prstGeom prst="rect">
            <a:avLst/>
          </a:prstGeom>
          <a:noFill/>
          <a:ln/>
        </p:spPr>
        <p:txBody>
          <a:bodyPr wrap="square" lIns="0" tIns="0" rIns="0" bIns="0" rtlCol="0" anchor="ctr">
            <a:normAutofit/>
          </a:bodyPr>
          <a:lstStyle/>
          <a:p>
            <a:pPr marL="0" indent="0">
              <a:buNone/>
            </a:pPr>
            <a:r>
              <a:rPr lang="en-US" sz="1200" dirty="0">
                <a:solidFill>
                  <a:srgbClr val="5F707C"/>
                </a:solidFill>
                <a:latin typeface="Aptos" pitchFamily="34" charset="0"/>
                <a:ea typeface="Aptos" pitchFamily="34" charset="-122"/>
                <a:cs typeface="Aptos" pitchFamily="34" charset="-120"/>
              </a:rPr>
              <a:t>Recorded system activities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06 / INTERFACE</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The system interface</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Actual application screenshots; the enrollment screenshot uses anonymized demo text.</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94360" y="1719072"/>
            <a:ext cx="4882896" cy="3401568"/>
          </a:xfrm>
          <a:prstGeom prst="roundRect">
            <a:avLst>
              <a:gd name="adj" fmla="val 2151"/>
            </a:avLst>
          </a:prstGeom>
          <a:solidFill>
            <a:srgbClr val="FFFFFC"/>
          </a:solidFill>
          <a:ln w="10160">
            <a:solidFill>
              <a:srgbClr val="D7DEDC"/>
            </a:solidFill>
            <a:prstDash val="solid"/>
          </a:ln>
        </p:spPr>
      </p:sp>
      <p:pic>
        <p:nvPicPr>
          <p:cNvPr id="9" name="Image 0" descr="C:\Users\SCHOOL PROJECT\Documents\Enrollment-system-main\presentation_assets\slide01-login.png"/>
          <p:cNvPicPr>
            <a:picLocks noChangeAspect="1"/>
          </p:cNvPicPr>
          <p:nvPr/>
        </p:nvPicPr>
        <p:blipFill>
          <a:blip r:embed="rId3"/>
          <a:stretch>
            <a:fillRect/>
          </a:stretch>
        </p:blipFill>
        <p:spPr>
          <a:xfrm>
            <a:off x="658368" y="1933956"/>
            <a:ext cx="4754880" cy="2971800"/>
          </a:xfrm>
          <a:prstGeom prst="rect">
            <a:avLst/>
          </a:prstGeom>
        </p:spPr>
      </p:pic>
      <p:sp>
        <p:nvSpPr>
          <p:cNvPr id="10" name="Shape 7"/>
          <p:cNvSpPr/>
          <p:nvPr/>
        </p:nvSpPr>
        <p:spPr>
          <a:xfrm>
            <a:off x="6382512" y="1719072"/>
            <a:ext cx="4882896" cy="3401568"/>
          </a:xfrm>
          <a:prstGeom prst="roundRect">
            <a:avLst>
              <a:gd name="adj" fmla="val 2151"/>
            </a:avLst>
          </a:prstGeom>
          <a:solidFill>
            <a:srgbClr val="FFFFFC"/>
          </a:solidFill>
          <a:ln w="10160">
            <a:solidFill>
              <a:srgbClr val="D7DEDC"/>
            </a:solidFill>
            <a:prstDash val="solid"/>
          </a:ln>
        </p:spPr>
      </p:sp>
      <p:pic>
        <p:nvPicPr>
          <p:cNvPr id="11" name="Image 1" descr="C:\Users\SCHOOL PROJECT\Documents\Enrollment-system-main\presentation_assets\slide02-dashboard.png"/>
          <p:cNvPicPr>
            <a:picLocks noChangeAspect="1"/>
          </p:cNvPicPr>
          <p:nvPr/>
        </p:nvPicPr>
        <p:blipFill>
          <a:blip r:embed="rId4"/>
          <a:stretch>
            <a:fillRect/>
          </a:stretch>
        </p:blipFill>
        <p:spPr>
          <a:xfrm>
            <a:off x="6446520" y="1933956"/>
            <a:ext cx="4754880" cy="2971800"/>
          </a:xfrm>
          <a:prstGeom prst="rect">
            <a:avLst/>
          </a:prstGeom>
        </p:spPr>
      </p:pic>
      <p:sp>
        <p:nvSpPr>
          <p:cNvPr id="12" name="Shape 8"/>
          <p:cNvSpPr/>
          <p:nvPr/>
        </p:nvSpPr>
        <p:spPr>
          <a:xfrm>
            <a:off x="2176272" y="5358384"/>
            <a:ext cx="1691640" cy="283464"/>
          </a:xfrm>
          <a:prstGeom prst="roundRect">
            <a:avLst>
              <a:gd name="adj" fmla="val 25806"/>
            </a:avLst>
          </a:prstGeom>
          <a:solidFill>
            <a:srgbClr val="009187"/>
          </a:solidFill>
          <a:ln w="12700">
            <a:solidFill>
              <a:srgbClr val="009187"/>
            </a:solidFill>
            <a:prstDash val="solid"/>
          </a:ln>
        </p:spPr>
      </p:sp>
      <p:sp>
        <p:nvSpPr>
          <p:cNvPr id="13" name="Text 9"/>
          <p:cNvSpPr/>
          <p:nvPr/>
        </p:nvSpPr>
        <p:spPr>
          <a:xfrm>
            <a:off x="2221992" y="5372100"/>
            <a:ext cx="1600200" cy="23774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ADMIN LOGIN</a:t>
            </a:r>
            <a:endParaRPr lang="en-US" sz="900" dirty="0"/>
          </a:p>
        </p:txBody>
      </p:sp>
      <p:sp>
        <p:nvSpPr>
          <p:cNvPr id="14" name="Shape 10"/>
          <p:cNvSpPr/>
          <p:nvPr/>
        </p:nvSpPr>
        <p:spPr>
          <a:xfrm>
            <a:off x="8001000" y="5358384"/>
            <a:ext cx="1691640" cy="283464"/>
          </a:xfrm>
          <a:prstGeom prst="roundRect">
            <a:avLst>
              <a:gd name="adj" fmla="val 25806"/>
            </a:avLst>
          </a:prstGeom>
          <a:solidFill>
            <a:srgbClr val="009187"/>
          </a:solidFill>
          <a:ln w="12700">
            <a:solidFill>
              <a:srgbClr val="009187"/>
            </a:solidFill>
            <a:prstDash val="solid"/>
          </a:ln>
        </p:spPr>
      </p:sp>
      <p:sp>
        <p:nvSpPr>
          <p:cNvPr id="15" name="Text 11"/>
          <p:cNvSpPr/>
          <p:nvPr/>
        </p:nvSpPr>
        <p:spPr>
          <a:xfrm>
            <a:off x="8046720" y="5372100"/>
            <a:ext cx="1600200" cy="23774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DASHBOARD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07 / DEMONSTRATION</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A complete Admin workflow</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Demonstrate these steps in the live system.</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640080" y="1783080"/>
            <a:ext cx="2560320" cy="1115568"/>
          </a:xfrm>
          <a:prstGeom prst="roundRect">
            <a:avLst>
              <a:gd name="adj" fmla="val 6557"/>
            </a:avLst>
          </a:prstGeom>
          <a:solidFill>
            <a:srgbClr val="FFFFFC"/>
          </a:solidFill>
          <a:ln w="10160">
            <a:solidFill>
              <a:srgbClr val="D7DEDC"/>
            </a:solidFill>
            <a:prstDash val="solid"/>
          </a:ln>
        </p:spPr>
      </p:sp>
      <p:sp>
        <p:nvSpPr>
          <p:cNvPr id="9" name="Text 7"/>
          <p:cNvSpPr/>
          <p:nvPr/>
        </p:nvSpPr>
        <p:spPr>
          <a:xfrm>
            <a:off x="841248" y="1947672"/>
            <a:ext cx="475488" cy="329184"/>
          </a:xfrm>
          <a:prstGeom prst="rect">
            <a:avLst/>
          </a:prstGeom>
          <a:noFill/>
          <a:ln/>
        </p:spPr>
        <p:txBody>
          <a:bodyPr wrap="square" lIns="0" tIns="0" rIns="0" bIns="0" rtlCol="0" anchor="ctr">
            <a:normAutofit/>
          </a:bodyPr>
          <a:lstStyle/>
          <a:p>
            <a:pPr marL="0" indent="0">
              <a:buNone/>
            </a:pPr>
            <a:r>
              <a:rPr lang="en-US" sz="2200" b="1" dirty="0">
                <a:solidFill>
                  <a:srgbClr val="D96952"/>
                </a:solidFill>
                <a:latin typeface="Aptos" pitchFamily="34" charset="0"/>
                <a:ea typeface="Aptos" pitchFamily="34" charset="-122"/>
                <a:cs typeface="Aptos" pitchFamily="34" charset="-120"/>
              </a:rPr>
              <a:t>01</a:t>
            </a:r>
            <a:endParaRPr lang="en-US" sz="2200" dirty="0"/>
          </a:p>
        </p:txBody>
      </p:sp>
      <p:sp>
        <p:nvSpPr>
          <p:cNvPr id="10" name="Text 8"/>
          <p:cNvSpPr/>
          <p:nvPr/>
        </p:nvSpPr>
        <p:spPr>
          <a:xfrm>
            <a:off x="1389888" y="1984248"/>
            <a:ext cx="1572768" cy="228600"/>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LOGIN</a:t>
            </a:r>
            <a:endParaRPr lang="en-US" sz="1400" dirty="0"/>
          </a:p>
        </p:txBody>
      </p:sp>
      <p:sp>
        <p:nvSpPr>
          <p:cNvPr id="11" name="Text 9"/>
          <p:cNvSpPr/>
          <p:nvPr/>
        </p:nvSpPr>
        <p:spPr>
          <a:xfrm>
            <a:off x="1389888" y="2340864"/>
            <a:ext cx="1600200" cy="365760"/>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Admin authentication</a:t>
            </a:r>
            <a:endParaRPr lang="en-US" sz="1000" dirty="0"/>
          </a:p>
        </p:txBody>
      </p:sp>
      <p:sp>
        <p:nvSpPr>
          <p:cNvPr id="12" name="Shape 10"/>
          <p:cNvSpPr/>
          <p:nvPr/>
        </p:nvSpPr>
        <p:spPr>
          <a:xfrm>
            <a:off x="3520440" y="1783080"/>
            <a:ext cx="2560320" cy="1115568"/>
          </a:xfrm>
          <a:prstGeom prst="roundRect">
            <a:avLst>
              <a:gd name="adj" fmla="val 6557"/>
            </a:avLst>
          </a:prstGeom>
          <a:solidFill>
            <a:srgbClr val="FFFFFC"/>
          </a:solidFill>
          <a:ln w="10160">
            <a:solidFill>
              <a:srgbClr val="D7DEDC"/>
            </a:solidFill>
            <a:prstDash val="solid"/>
          </a:ln>
        </p:spPr>
      </p:sp>
      <p:sp>
        <p:nvSpPr>
          <p:cNvPr id="13" name="Text 11"/>
          <p:cNvSpPr/>
          <p:nvPr/>
        </p:nvSpPr>
        <p:spPr>
          <a:xfrm>
            <a:off x="3721608" y="1947672"/>
            <a:ext cx="475488" cy="329184"/>
          </a:xfrm>
          <a:prstGeom prst="rect">
            <a:avLst/>
          </a:prstGeom>
          <a:noFill/>
          <a:ln/>
        </p:spPr>
        <p:txBody>
          <a:bodyPr wrap="square" lIns="0" tIns="0" rIns="0" bIns="0" rtlCol="0" anchor="ctr">
            <a:normAutofit/>
          </a:bodyPr>
          <a:lstStyle/>
          <a:p>
            <a:pPr marL="0" indent="0">
              <a:buNone/>
            </a:pPr>
            <a:r>
              <a:rPr lang="en-US" sz="2200" b="1" dirty="0">
                <a:solidFill>
                  <a:srgbClr val="D96952"/>
                </a:solidFill>
                <a:latin typeface="Aptos" pitchFamily="34" charset="0"/>
                <a:ea typeface="Aptos" pitchFamily="34" charset="-122"/>
                <a:cs typeface="Aptos" pitchFamily="34" charset="-120"/>
              </a:rPr>
              <a:t>02</a:t>
            </a:r>
            <a:endParaRPr lang="en-US" sz="2200" dirty="0"/>
          </a:p>
        </p:txBody>
      </p:sp>
      <p:sp>
        <p:nvSpPr>
          <p:cNvPr id="14" name="Text 12"/>
          <p:cNvSpPr/>
          <p:nvPr/>
        </p:nvSpPr>
        <p:spPr>
          <a:xfrm>
            <a:off x="4270248" y="1984248"/>
            <a:ext cx="1572768" cy="228600"/>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ENROLL</a:t>
            </a:r>
            <a:endParaRPr lang="en-US" sz="1400" dirty="0"/>
          </a:p>
        </p:txBody>
      </p:sp>
      <p:sp>
        <p:nvSpPr>
          <p:cNvPr id="15" name="Text 13"/>
          <p:cNvSpPr/>
          <p:nvPr/>
        </p:nvSpPr>
        <p:spPr>
          <a:xfrm>
            <a:off x="4270248" y="2340864"/>
            <a:ext cx="1600200" cy="365760"/>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Add student and section</a:t>
            </a:r>
            <a:endParaRPr lang="en-US" sz="1000" dirty="0"/>
          </a:p>
        </p:txBody>
      </p:sp>
      <p:sp>
        <p:nvSpPr>
          <p:cNvPr id="16" name="Shape 14"/>
          <p:cNvSpPr/>
          <p:nvPr/>
        </p:nvSpPr>
        <p:spPr>
          <a:xfrm>
            <a:off x="6400800" y="1783080"/>
            <a:ext cx="2560320" cy="1115568"/>
          </a:xfrm>
          <a:prstGeom prst="roundRect">
            <a:avLst>
              <a:gd name="adj" fmla="val 6557"/>
            </a:avLst>
          </a:prstGeom>
          <a:solidFill>
            <a:srgbClr val="FFFFFC"/>
          </a:solidFill>
          <a:ln w="10160">
            <a:solidFill>
              <a:srgbClr val="D7DEDC"/>
            </a:solidFill>
            <a:prstDash val="solid"/>
          </a:ln>
        </p:spPr>
      </p:sp>
      <p:sp>
        <p:nvSpPr>
          <p:cNvPr id="17" name="Text 15"/>
          <p:cNvSpPr/>
          <p:nvPr/>
        </p:nvSpPr>
        <p:spPr>
          <a:xfrm>
            <a:off x="6601968" y="1947672"/>
            <a:ext cx="475488" cy="329184"/>
          </a:xfrm>
          <a:prstGeom prst="rect">
            <a:avLst/>
          </a:prstGeom>
          <a:noFill/>
          <a:ln/>
        </p:spPr>
        <p:txBody>
          <a:bodyPr wrap="square" lIns="0" tIns="0" rIns="0" bIns="0" rtlCol="0" anchor="ctr">
            <a:normAutofit/>
          </a:bodyPr>
          <a:lstStyle/>
          <a:p>
            <a:pPr marL="0" indent="0">
              <a:buNone/>
            </a:pPr>
            <a:r>
              <a:rPr lang="en-US" sz="2200" b="1" dirty="0">
                <a:solidFill>
                  <a:srgbClr val="D96952"/>
                </a:solidFill>
                <a:latin typeface="Aptos" pitchFamily="34" charset="0"/>
                <a:ea typeface="Aptos" pitchFamily="34" charset="-122"/>
                <a:cs typeface="Aptos" pitchFamily="34" charset="-120"/>
              </a:rPr>
              <a:t>03</a:t>
            </a:r>
            <a:endParaRPr lang="en-US" sz="2200" dirty="0"/>
          </a:p>
        </p:txBody>
      </p:sp>
      <p:sp>
        <p:nvSpPr>
          <p:cNvPr id="18" name="Text 16"/>
          <p:cNvSpPr/>
          <p:nvPr/>
        </p:nvSpPr>
        <p:spPr>
          <a:xfrm>
            <a:off x="7150608" y="1984248"/>
            <a:ext cx="1572768" cy="228600"/>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GRADE</a:t>
            </a:r>
            <a:endParaRPr lang="en-US" sz="1400" dirty="0"/>
          </a:p>
        </p:txBody>
      </p:sp>
      <p:sp>
        <p:nvSpPr>
          <p:cNvPr id="19" name="Text 17"/>
          <p:cNvSpPr/>
          <p:nvPr/>
        </p:nvSpPr>
        <p:spPr>
          <a:xfrm>
            <a:off x="7150608" y="2340864"/>
            <a:ext cx="1600200" cy="365760"/>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Enter and save grades</a:t>
            </a:r>
            <a:endParaRPr lang="en-US" sz="1000" dirty="0"/>
          </a:p>
        </p:txBody>
      </p:sp>
      <p:sp>
        <p:nvSpPr>
          <p:cNvPr id="20" name="Shape 18"/>
          <p:cNvSpPr/>
          <p:nvPr/>
        </p:nvSpPr>
        <p:spPr>
          <a:xfrm>
            <a:off x="9281160" y="1783080"/>
            <a:ext cx="2560320" cy="1115568"/>
          </a:xfrm>
          <a:prstGeom prst="roundRect">
            <a:avLst>
              <a:gd name="adj" fmla="val 6557"/>
            </a:avLst>
          </a:prstGeom>
          <a:solidFill>
            <a:srgbClr val="FFFFFC"/>
          </a:solidFill>
          <a:ln w="10160">
            <a:solidFill>
              <a:srgbClr val="D7DEDC"/>
            </a:solidFill>
            <a:prstDash val="solid"/>
          </a:ln>
        </p:spPr>
      </p:sp>
      <p:sp>
        <p:nvSpPr>
          <p:cNvPr id="21" name="Text 19"/>
          <p:cNvSpPr/>
          <p:nvPr/>
        </p:nvSpPr>
        <p:spPr>
          <a:xfrm>
            <a:off x="9482328" y="1947672"/>
            <a:ext cx="475488" cy="329184"/>
          </a:xfrm>
          <a:prstGeom prst="rect">
            <a:avLst/>
          </a:prstGeom>
          <a:noFill/>
          <a:ln/>
        </p:spPr>
        <p:txBody>
          <a:bodyPr wrap="square" lIns="0" tIns="0" rIns="0" bIns="0" rtlCol="0" anchor="ctr">
            <a:normAutofit/>
          </a:bodyPr>
          <a:lstStyle/>
          <a:p>
            <a:pPr marL="0" indent="0">
              <a:buNone/>
            </a:pPr>
            <a:r>
              <a:rPr lang="en-US" sz="2200" b="1" dirty="0">
                <a:solidFill>
                  <a:srgbClr val="D96952"/>
                </a:solidFill>
                <a:latin typeface="Aptos" pitchFamily="34" charset="0"/>
                <a:ea typeface="Aptos" pitchFamily="34" charset="-122"/>
                <a:cs typeface="Aptos" pitchFamily="34" charset="-120"/>
              </a:rPr>
              <a:t>04</a:t>
            </a:r>
            <a:endParaRPr lang="en-US" sz="2200" dirty="0"/>
          </a:p>
        </p:txBody>
      </p:sp>
      <p:sp>
        <p:nvSpPr>
          <p:cNvPr id="22" name="Text 20"/>
          <p:cNvSpPr/>
          <p:nvPr/>
        </p:nvSpPr>
        <p:spPr>
          <a:xfrm>
            <a:off x="10030968" y="1984248"/>
            <a:ext cx="1572768" cy="228600"/>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CONFIGURE</a:t>
            </a:r>
            <a:endParaRPr lang="en-US" sz="1400" dirty="0"/>
          </a:p>
        </p:txBody>
      </p:sp>
      <p:sp>
        <p:nvSpPr>
          <p:cNvPr id="23" name="Text 21"/>
          <p:cNvSpPr/>
          <p:nvPr/>
        </p:nvSpPr>
        <p:spPr>
          <a:xfrm>
            <a:off x="10030968" y="2340864"/>
            <a:ext cx="1600200" cy="365760"/>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Update school settings</a:t>
            </a:r>
            <a:endParaRPr lang="en-US" sz="1000" dirty="0"/>
          </a:p>
        </p:txBody>
      </p:sp>
      <p:sp>
        <p:nvSpPr>
          <p:cNvPr id="24" name="Text 22"/>
          <p:cNvSpPr/>
          <p:nvPr/>
        </p:nvSpPr>
        <p:spPr>
          <a:xfrm>
            <a:off x="822960" y="3273552"/>
            <a:ext cx="10561320" cy="475488"/>
          </a:xfrm>
          <a:prstGeom prst="rect">
            <a:avLst/>
          </a:prstGeom>
          <a:noFill/>
          <a:ln/>
        </p:spPr>
        <p:txBody>
          <a:bodyPr wrap="square" lIns="0" tIns="0" rIns="0" bIns="0" rtlCol="0" anchor="ctr">
            <a:normAutofit/>
          </a:bodyPr>
          <a:lstStyle/>
          <a:p>
            <a:pPr marL="0" indent="0" algn="ctr">
              <a:buNone/>
            </a:pPr>
            <a:r>
              <a:rPr lang="en-US" sz="1500" b="1" dirty="0">
                <a:solidFill>
                  <a:srgbClr val="009187"/>
                </a:solidFill>
                <a:latin typeface="Aptos" pitchFamily="34" charset="0"/>
                <a:ea typeface="Aptos" pitchFamily="34" charset="-122"/>
                <a:cs typeface="Aptos" pitchFamily="34" charset="-120"/>
              </a:rPr>
              <a:t>Admin login  &gt;  Dashboard  &gt;  Add student  &gt;  Assign section  &gt;  Enter grades  &gt;  Save settings</a:t>
            </a:r>
            <a:endParaRPr lang="en-US" sz="1500" dirty="0"/>
          </a:p>
        </p:txBody>
      </p:sp>
      <p:sp>
        <p:nvSpPr>
          <p:cNvPr id="25" name="Shape 23"/>
          <p:cNvSpPr/>
          <p:nvPr/>
        </p:nvSpPr>
        <p:spPr>
          <a:xfrm>
            <a:off x="3794760" y="3867912"/>
            <a:ext cx="4562856" cy="1728216"/>
          </a:xfrm>
          <a:prstGeom prst="roundRect">
            <a:avLst>
              <a:gd name="adj" fmla="val 4233"/>
            </a:avLst>
          </a:prstGeom>
          <a:solidFill>
            <a:srgbClr val="FFFFFC"/>
          </a:solidFill>
          <a:ln w="10160">
            <a:solidFill>
              <a:srgbClr val="D7DEDC"/>
            </a:solidFill>
            <a:prstDash val="solid"/>
          </a:ln>
        </p:spPr>
      </p:sp>
      <p:pic>
        <p:nvPicPr>
          <p:cNvPr id="26" name="Image 0" descr="C:\Users\SCHOOL PROJECT\Documents\Enrollment-system-main\presentation_assets\slide05-grading.png"/>
          <p:cNvPicPr>
            <a:picLocks noChangeAspect="1"/>
          </p:cNvPicPr>
          <p:nvPr/>
        </p:nvPicPr>
        <p:blipFill>
          <a:blip r:embed="rId3"/>
          <a:stretch>
            <a:fillRect/>
          </a:stretch>
        </p:blipFill>
        <p:spPr>
          <a:xfrm>
            <a:off x="4796028" y="3931920"/>
            <a:ext cx="2560320" cy="160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08 / ENGINEERING</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Challenges addressed in the project</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Examples based on issues encountered while building this system.</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658368" y="1719072"/>
            <a:ext cx="10881360" cy="512064"/>
          </a:xfrm>
          <a:prstGeom prst="roundRect">
            <a:avLst>
              <a:gd name="adj" fmla="val 14286"/>
            </a:avLst>
          </a:prstGeom>
          <a:solidFill>
            <a:srgbClr val="12263B"/>
          </a:solidFill>
          <a:ln w="12700">
            <a:solidFill>
              <a:srgbClr val="12263B"/>
            </a:solidFill>
            <a:prstDash val="solid"/>
          </a:ln>
        </p:spPr>
      </p:sp>
      <p:sp>
        <p:nvSpPr>
          <p:cNvPr id="9" name="Text 7"/>
          <p:cNvSpPr/>
          <p:nvPr/>
        </p:nvSpPr>
        <p:spPr>
          <a:xfrm>
            <a:off x="914400" y="1856232"/>
            <a:ext cx="3840480" cy="210312"/>
          </a:xfrm>
          <a:prstGeom prst="rect">
            <a:avLst/>
          </a:prstGeom>
          <a:noFill/>
          <a:ln/>
        </p:spPr>
        <p:txBody>
          <a:bodyPr wrap="square" lIns="0" tIns="0" rIns="0" bIns="0"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CHALLENGE</a:t>
            </a:r>
            <a:endParaRPr lang="en-US" sz="1100" dirty="0"/>
          </a:p>
        </p:txBody>
      </p:sp>
      <p:sp>
        <p:nvSpPr>
          <p:cNvPr id="10" name="Text 8"/>
          <p:cNvSpPr/>
          <p:nvPr/>
        </p:nvSpPr>
        <p:spPr>
          <a:xfrm>
            <a:off x="6126480" y="1856232"/>
            <a:ext cx="4937760" cy="210312"/>
          </a:xfrm>
          <a:prstGeom prst="rect">
            <a:avLst/>
          </a:prstGeom>
          <a:noFill/>
          <a:ln/>
        </p:spPr>
        <p:txBody>
          <a:bodyPr wrap="square" lIns="0" tIns="0" rIns="0" bIns="0"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SOLUTION</a:t>
            </a:r>
            <a:endParaRPr lang="en-US" sz="1100" dirty="0"/>
          </a:p>
        </p:txBody>
      </p:sp>
      <p:sp>
        <p:nvSpPr>
          <p:cNvPr id="11" name="Shape 9"/>
          <p:cNvSpPr/>
          <p:nvPr/>
        </p:nvSpPr>
        <p:spPr>
          <a:xfrm>
            <a:off x="658368" y="2331720"/>
            <a:ext cx="10881360" cy="530352"/>
          </a:xfrm>
          <a:prstGeom prst="roundRect">
            <a:avLst>
              <a:gd name="adj" fmla="val 13793"/>
            </a:avLst>
          </a:prstGeom>
          <a:solidFill>
            <a:srgbClr val="FFFFFC"/>
          </a:solidFill>
          <a:ln w="10160">
            <a:solidFill>
              <a:srgbClr val="D7DEDC"/>
            </a:solidFill>
            <a:prstDash val="solid"/>
          </a:ln>
        </p:spPr>
      </p:sp>
      <p:sp>
        <p:nvSpPr>
          <p:cNvPr id="12" name="Text 10"/>
          <p:cNvSpPr/>
          <p:nvPr/>
        </p:nvSpPr>
        <p:spPr>
          <a:xfrm>
            <a:off x="914400" y="2459736"/>
            <a:ext cx="4663440" cy="256032"/>
          </a:xfrm>
          <a:prstGeom prst="rect">
            <a:avLst/>
          </a:prstGeom>
          <a:noFill/>
          <a:ln/>
        </p:spPr>
        <p:txBody>
          <a:bodyPr wrap="square" lIns="0" tIns="0" rIns="0" bIns="0" rtlCol="0" anchor="ctr">
            <a:normAutofit/>
          </a:bodyPr>
          <a:lstStyle/>
          <a:p>
            <a:pPr marL="0" indent="0">
              <a:buNone/>
            </a:pPr>
            <a:r>
              <a:rPr lang="en-US" sz="1300" dirty="0">
                <a:solidFill>
                  <a:srgbClr val="132537"/>
                </a:solidFill>
                <a:latin typeface="Aptos" pitchFamily="34" charset="0"/>
                <a:ea typeface="Aptos" pitchFamily="34" charset="-122"/>
                <a:cs typeface="Aptos" pitchFamily="34" charset="-120"/>
              </a:rPr>
              <a:t>Duplicate student records</a:t>
            </a:r>
            <a:endParaRPr lang="en-US" sz="1300" dirty="0"/>
          </a:p>
        </p:txBody>
      </p:sp>
      <p:sp>
        <p:nvSpPr>
          <p:cNvPr id="13" name="Text 11"/>
          <p:cNvSpPr/>
          <p:nvPr/>
        </p:nvSpPr>
        <p:spPr>
          <a:xfrm>
            <a:off x="6126480" y="2459736"/>
            <a:ext cx="5029200" cy="256032"/>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Validate Student ID before saving</a:t>
            </a:r>
            <a:endParaRPr lang="en-US" sz="1300" dirty="0"/>
          </a:p>
        </p:txBody>
      </p:sp>
      <p:sp>
        <p:nvSpPr>
          <p:cNvPr id="14" name="Shape 12"/>
          <p:cNvSpPr/>
          <p:nvPr/>
        </p:nvSpPr>
        <p:spPr>
          <a:xfrm>
            <a:off x="658368" y="2962656"/>
            <a:ext cx="10881360" cy="530352"/>
          </a:xfrm>
          <a:prstGeom prst="roundRect">
            <a:avLst>
              <a:gd name="adj" fmla="val 13793"/>
            </a:avLst>
          </a:prstGeom>
          <a:solidFill>
            <a:srgbClr val="FFFFFC"/>
          </a:solidFill>
          <a:ln w="10160">
            <a:solidFill>
              <a:srgbClr val="D7DEDC"/>
            </a:solidFill>
            <a:prstDash val="solid"/>
          </a:ln>
        </p:spPr>
      </p:sp>
      <p:sp>
        <p:nvSpPr>
          <p:cNvPr id="15" name="Text 13"/>
          <p:cNvSpPr/>
          <p:nvPr/>
        </p:nvSpPr>
        <p:spPr>
          <a:xfrm>
            <a:off x="914400" y="3090672"/>
            <a:ext cx="4663440" cy="256032"/>
          </a:xfrm>
          <a:prstGeom prst="rect">
            <a:avLst/>
          </a:prstGeom>
          <a:noFill/>
          <a:ln/>
        </p:spPr>
        <p:txBody>
          <a:bodyPr wrap="square" lIns="0" tIns="0" rIns="0" bIns="0" rtlCol="0" anchor="ctr">
            <a:normAutofit/>
          </a:bodyPr>
          <a:lstStyle/>
          <a:p>
            <a:pPr marL="0" indent="0">
              <a:buNone/>
            </a:pPr>
            <a:r>
              <a:rPr lang="en-US" sz="1300" dirty="0">
                <a:solidFill>
                  <a:srgbClr val="132537"/>
                </a:solidFill>
                <a:latin typeface="Aptos" pitchFamily="34" charset="0"/>
                <a:ea typeface="Aptos" pitchFamily="34" charset="-122"/>
                <a:cs typeface="Aptos" pitchFamily="34" charset="-120"/>
              </a:rPr>
              <a:t>Invalid grade values</a:t>
            </a:r>
            <a:endParaRPr lang="en-US" sz="1300" dirty="0"/>
          </a:p>
        </p:txBody>
      </p:sp>
      <p:sp>
        <p:nvSpPr>
          <p:cNvPr id="16" name="Text 14"/>
          <p:cNvSpPr/>
          <p:nvPr/>
        </p:nvSpPr>
        <p:spPr>
          <a:xfrm>
            <a:off x="6126480" y="3090672"/>
            <a:ext cx="5029200" cy="256032"/>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Enforce the 0 to 100 grade range</a:t>
            </a:r>
            <a:endParaRPr lang="en-US" sz="1300" dirty="0"/>
          </a:p>
        </p:txBody>
      </p:sp>
      <p:sp>
        <p:nvSpPr>
          <p:cNvPr id="17" name="Shape 15"/>
          <p:cNvSpPr/>
          <p:nvPr/>
        </p:nvSpPr>
        <p:spPr>
          <a:xfrm>
            <a:off x="658368" y="3593592"/>
            <a:ext cx="10881360" cy="530352"/>
          </a:xfrm>
          <a:prstGeom prst="roundRect">
            <a:avLst>
              <a:gd name="adj" fmla="val 13793"/>
            </a:avLst>
          </a:prstGeom>
          <a:solidFill>
            <a:srgbClr val="FFFFFC"/>
          </a:solidFill>
          <a:ln w="10160">
            <a:solidFill>
              <a:srgbClr val="D7DEDC"/>
            </a:solidFill>
            <a:prstDash val="solid"/>
          </a:ln>
        </p:spPr>
      </p:sp>
      <p:sp>
        <p:nvSpPr>
          <p:cNvPr id="18" name="Text 16"/>
          <p:cNvSpPr/>
          <p:nvPr/>
        </p:nvSpPr>
        <p:spPr>
          <a:xfrm>
            <a:off x="914400" y="3721608"/>
            <a:ext cx="4663440" cy="256032"/>
          </a:xfrm>
          <a:prstGeom prst="rect">
            <a:avLst/>
          </a:prstGeom>
          <a:noFill/>
          <a:ln/>
        </p:spPr>
        <p:txBody>
          <a:bodyPr wrap="square" lIns="0" tIns="0" rIns="0" bIns="0" rtlCol="0" anchor="ctr">
            <a:normAutofit/>
          </a:bodyPr>
          <a:lstStyle/>
          <a:p>
            <a:pPr marL="0" indent="0">
              <a:buNone/>
            </a:pPr>
            <a:r>
              <a:rPr lang="en-US" sz="1300" dirty="0">
                <a:solidFill>
                  <a:srgbClr val="132537"/>
                </a:solidFill>
                <a:latin typeface="Aptos" pitchFamily="34" charset="0"/>
                <a:ea typeface="Aptos" pitchFamily="34" charset="-122"/>
                <a:cs typeface="Aptos" pitchFamily="34" charset="-120"/>
              </a:rPr>
              <a:t>Unauthorized access</a:t>
            </a:r>
            <a:endParaRPr lang="en-US" sz="1300" dirty="0"/>
          </a:p>
        </p:txBody>
      </p:sp>
      <p:sp>
        <p:nvSpPr>
          <p:cNvPr id="19" name="Text 17"/>
          <p:cNvSpPr/>
          <p:nvPr/>
        </p:nvSpPr>
        <p:spPr>
          <a:xfrm>
            <a:off x="6126480" y="3721608"/>
            <a:ext cx="5029200" cy="256032"/>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Require an active Admin session on backend</a:t>
            </a:r>
            <a:endParaRPr lang="en-US" sz="1300" dirty="0"/>
          </a:p>
        </p:txBody>
      </p:sp>
      <p:sp>
        <p:nvSpPr>
          <p:cNvPr id="20" name="Shape 18"/>
          <p:cNvSpPr/>
          <p:nvPr/>
        </p:nvSpPr>
        <p:spPr>
          <a:xfrm>
            <a:off x="658368" y="4224528"/>
            <a:ext cx="10881360" cy="530352"/>
          </a:xfrm>
          <a:prstGeom prst="roundRect">
            <a:avLst>
              <a:gd name="adj" fmla="val 13793"/>
            </a:avLst>
          </a:prstGeom>
          <a:solidFill>
            <a:srgbClr val="FFFFFC"/>
          </a:solidFill>
          <a:ln w="10160">
            <a:solidFill>
              <a:srgbClr val="D7DEDC"/>
            </a:solidFill>
            <a:prstDash val="solid"/>
          </a:ln>
        </p:spPr>
      </p:sp>
      <p:sp>
        <p:nvSpPr>
          <p:cNvPr id="21" name="Text 19"/>
          <p:cNvSpPr/>
          <p:nvPr/>
        </p:nvSpPr>
        <p:spPr>
          <a:xfrm>
            <a:off x="914400" y="4352544"/>
            <a:ext cx="4663440" cy="256032"/>
          </a:xfrm>
          <a:prstGeom prst="rect">
            <a:avLst/>
          </a:prstGeom>
          <a:noFill/>
          <a:ln/>
        </p:spPr>
        <p:txBody>
          <a:bodyPr wrap="square" lIns="0" tIns="0" rIns="0" bIns="0" rtlCol="0" anchor="ctr">
            <a:normAutofit/>
          </a:bodyPr>
          <a:lstStyle/>
          <a:p>
            <a:pPr marL="0" indent="0">
              <a:buNone/>
            </a:pPr>
            <a:r>
              <a:rPr lang="en-US" sz="1300" dirty="0">
                <a:solidFill>
                  <a:srgbClr val="132537"/>
                </a:solidFill>
                <a:latin typeface="Aptos" pitchFamily="34" charset="0"/>
                <a:ea typeface="Aptos" pitchFamily="34" charset="-122"/>
                <a:cs typeface="Aptos" pitchFamily="34" charset="-120"/>
              </a:rPr>
              <a:t>Section deletion risk</a:t>
            </a:r>
            <a:endParaRPr lang="en-US" sz="1300" dirty="0"/>
          </a:p>
        </p:txBody>
      </p:sp>
      <p:sp>
        <p:nvSpPr>
          <p:cNvPr id="22" name="Text 20"/>
          <p:cNvSpPr/>
          <p:nvPr/>
        </p:nvSpPr>
        <p:spPr>
          <a:xfrm>
            <a:off x="6126480" y="4352544"/>
            <a:ext cx="5029200" cy="256032"/>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Archive sections with students or grades</a:t>
            </a:r>
            <a:endParaRPr lang="en-US" sz="1300" dirty="0"/>
          </a:p>
        </p:txBody>
      </p:sp>
      <p:sp>
        <p:nvSpPr>
          <p:cNvPr id="23" name="Shape 21"/>
          <p:cNvSpPr/>
          <p:nvPr/>
        </p:nvSpPr>
        <p:spPr>
          <a:xfrm>
            <a:off x="658368" y="4855464"/>
            <a:ext cx="10881360" cy="530352"/>
          </a:xfrm>
          <a:prstGeom prst="roundRect">
            <a:avLst>
              <a:gd name="adj" fmla="val 13793"/>
            </a:avLst>
          </a:prstGeom>
          <a:solidFill>
            <a:srgbClr val="FFFFFC"/>
          </a:solidFill>
          <a:ln w="10160">
            <a:solidFill>
              <a:srgbClr val="D7DEDC"/>
            </a:solidFill>
            <a:prstDash val="solid"/>
          </a:ln>
        </p:spPr>
      </p:sp>
      <p:sp>
        <p:nvSpPr>
          <p:cNvPr id="24" name="Text 22"/>
          <p:cNvSpPr/>
          <p:nvPr/>
        </p:nvSpPr>
        <p:spPr>
          <a:xfrm>
            <a:off x="914400" y="4983480"/>
            <a:ext cx="4663440" cy="256032"/>
          </a:xfrm>
          <a:prstGeom prst="rect">
            <a:avLst/>
          </a:prstGeom>
          <a:noFill/>
          <a:ln/>
        </p:spPr>
        <p:txBody>
          <a:bodyPr wrap="square" lIns="0" tIns="0" rIns="0" bIns="0" rtlCol="0" anchor="ctr">
            <a:normAutofit/>
          </a:bodyPr>
          <a:lstStyle/>
          <a:p>
            <a:pPr marL="0" indent="0">
              <a:buNone/>
            </a:pPr>
            <a:r>
              <a:rPr lang="en-US" sz="1300" dirty="0">
                <a:solidFill>
                  <a:srgbClr val="132537"/>
                </a:solidFill>
                <a:latin typeface="Aptos" pitchFamily="34" charset="0"/>
                <a:ea typeface="Aptos" pitchFamily="34" charset="-122"/>
                <a:cs typeface="Aptos" pitchFamily="34" charset="-120"/>
              </a:rPr>
              <a:t>Settings not saving</a:t>
            </a:r>
            <a:endParaRPr lang="en-US" sz="1300" dirty="0"/>
          </a:p>
        </p:txBody>
      </p:sp>
      <p:sp>
        <p:nvSpPr>
          <p:cNvPr id="25" name="Text 23"/>
          <p:cNvSpPr/>
          <p:nvPr/>
        </p:nvSpPr>
        <p:spPr>
          <a:xfrm>
            <a:off x="6126480" y="4983480"/>
            <a:ext cx="5029200" cy="256032"/>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Fix button loading state and API persistence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63B"/>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749808" y="621792"/>
            <a:ext cx="4937760" cy="274320"/>
          </a:xfrm>
          <a:prstGeom prst="rect">
            <a:avLst/>
          </a:prstGeom>
          <a:noFill/>
          <a:ln/>
        </p:spPr>
        <p:txBody>
          <a:bodyPr wrap="square" lIns="0" tIns="0" rIns="0" bIns="0" rtlCol="0" anchor="ctr">
            <a:normAutofit/>
          </a:bodyPr>
          <a:lstStyle/>
          <a:p>
            <a:pPr marL="0" indent="0">
              <a:buNone/>
            </a:pPr>
            <a:r>
              <a:rPr lang="en-US" sz="1100" b="1" dirty="0">
                <a:solidFill>
                  <a:srgbClr val="75D7CA"/>
                </a:solidFill>
                <a:latin typeface="Aptos" pitchFamily="34" charset="0"/>
                <a:ea typeface="Aptos" pitchFamily="34" charset="-122"/>
                <a:cs typeface="Aptos" pitchFamily="34" charset="-120"/>
              </a:rPr>
              <a:t>09 / CONCLUSION</a:t>
            </a:r>
            <a:endParaRPr lang="en-US" sz="1100" dirty="0"/>
          </a:p>
        </p:txBody>
      </p:sp>
      <p:sp>
        <p:nvSpPr>
          <p:cNvPr id="4" name="Text 2"/>
          <p:cNvSpPr/>
          <p:nvPr/>
        </p:nvSpPr>
        <p:spPr>
          <a:xfrm>
            <a:off x="749808" y="1234440"/>
            <a:ext cx="7772400" cy="1115568"/>
          </a:xfrm>
          <a:prstGeom prst="rect">
            <a:avLst/>
          </a:prstGeom>
          <a:noFill/>
          <a:ln/>
        </p:spPr>
        <p:txBody>
          <a:bodyPr wrap="square" lIns="0" tIns="0" rIns="0" bIns="0" rtlCol="0" anchor="t">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A more organized way</a:t>
            </a:r>
            <a:endParaRPr lang="en-US" sz="3100" dirty="0"/>
          </a:p>
          <a:p>
            <a:pPr marL="0" indent="0">
              <a:buNone/>
            </a:pPr>
            <a:r>
              <a:rPr lang="en-US" sz="3100" b="1" dirty="0">
                <a:solidFill>
                  <a:srgbClr val="FFFFFF"/>
                </a:solidFill>
                <a:latin typeface="Aptos Display" pitchFamily="34" charset="0"/>
                <a:ea typeface="Aptos Display" pitchFamily="34" charset="-122"/>
                <a:cs typeface="Aptos Display" pitchFamily="34" charset="-120"/>
              </a:rPr>
              <a:t>to manage school records.</a:t>
            </a:r>
            <a:endParaRPr lang="en-US" sz="3100" dirty="0"/>
          </a:p>
        </p:txBody>
      </p:sp>
      <p:sp>
        <p:nvSpPr>
          <p:cNvPr id="5" name="Text 3"/>
          <p:cNvSpPr/>
          <p:nvPr/>
        </p:nvSpPr>
        <p:spPr>
          <a:xfrm>
            <a:off x="777240" y="2788920"/>
            <a:ext cx="6858000" cy="1371600"/>
          </a:xfrm>
          <a:prstGeom prst="rect">
            <a:avLst/>
          </a:prstGeom>
          <a:noFill/>
          <a:ln/>
        </p:spPr>
        <p:txBody>
          <a:bodyPr wrap="square" lIns="0" tIns="0" rIns="0" bIns="0" rtlCol="0" anchor="t">
            <a:normAutofit/>
          </a:bodyPr>
          <a:lstStyle/>
          <a:p>
            <a:pPr marL="0" indent="0">
              <a:buNone/>
            </a:pPr>
            <a:r>
              <a:rPr lang="en-US" sz="1700" dirty="0">
                <a:solidFill>
                  <a:srgbClr val="D9E7EC"/>
                </a:solidFill>
                <a:latin typeface="Aptos" pitchFamily="34" charset="0"/>
                <a:ea typeface="Aptos" pitchFamily="34" charset="-122"/>
                <a:cs typeface="Aptos" pitchFamily="34" charset="-120"/>
              </a:rPr>
              <a:t>Centralized student, section, and grade management</a:t>
            </a:r>
            <a:endParaRPr lang="en-US" sz="1700" dirty="0"/>
          </a:p>
          <a:p>
            <a:pPr marL="0" indent="0">
              <a:buNone/>
            </a:pPr>
            <a:r>
              <a:rPr lang="en-US" sz="1700" dirty="0">
                <a:solidFill>
                  <a:srgbClr val="D9E7EC"/>
                </a:solidFill>
                <a:latin typeface="Aptos" pitchFamily="34" charset="0"/>
                <a:ea typeface="Aptos" pitchFamily="34" charset="-122"/>
                <a:cs typeface="Aptos" pitchFamily="34" charset="-120"/>
              </a:rPr>
              <a:t>Admin-controlled workflow with backend validation</a:t>
            </a:r>
            <a:endParaRPr lang="en-US" sz="1700" dirty="0"/>
          </a:p>
          <a:p>
            <a:pPr marL="0" indent="0">
              <a:buNone/>
            </a:pPr>
            <a:r>
              <a:rPr lang="en-US" sz="1700" dirty="0">
                <a:solidFill>
                  <a:srgbClr val="D9E7EC"/>
                </a:solidFill>
                <a:latin typeface="Aptos" pitchFamily="34" charset="0"/>
                <a:ea typeface="Aptos" pitchFamily="34" charset="-122"/>
                <a:cs typeface="Aptos" pitchFamily="34" charset="-120"/>
              </a:rPr>
              <a:t>Built with HTML, JavaScript, Apps Script, and Google Sheets</a:t>
            </a:r>
            <a:endParaRPr lang="en-US" sz="1700" dirty="0"/>
          </a:p>
        </p:txBody>
      </p:sp>
      <p:sp>
        <p:nvSpPr>
          <p:cNvPr id="6" name="Shape 4"/>
          <p:cNvSpPr/>
          <p:nvPr/>
        </p:nvSpPr>
        <p:spPr>
          <a:xfrm>
            <a:off x="8503920" y="1353312"/>
            <a:ext cx="2514600" cy="3246120"/>
          </a:xfrm>
          <a:prstGeom prst="roundRect">
            <a:avLst>
              <a:gd name="adj" fmla="val 2909"/>
            </a:avLst>
          </a:prstGeom>
          <a:solidFill>
            <a:srgbClr val="1C394E"/>
          </a:solidFill>
          <a:ln w="12700">
            <a:solidFill>
              <a:srgbClr val="1C394E"/>
            </a:solidFill>
            <a:prstDash val="solid"/>
          </a:ln>
        </p:spPr>
      </p:sp>
      <p:sp>
        <p:nvSpPr>
          <p:cNvPr id="7" name="Text 5"/>
          <p:cNvSpPr/>
          <p:nvPr/>
        </p:nvSpPr>
        <p:spPr>
          <a:xfrm>
            <a:off x="8796528" y="1664208"/>
            <a:ext cx="1920240" cy="585216"/>
          </a:xfrm>
          <a:prstGeom prst="rect">
            <a:avLst/>
          </a:prstGeom>
          <a:noFill/>
          <a:ln/>
        </p:spPr>
        <p:txBody>
          <a:bodyPr wrap="square" lIns="0" tIns="0" rIns="0" bIns="0" rtlCol="0" anchor="t">
            <a:normAutofit/>
          </a:bodyPr>
          <a:lstStyle/>
          <a:p>
            <a:pPr marL="0" indent="0">
              <a:buNone/>
            </a:pPr>
            <a:r>
              <a:rPr lang="en-US" sz="1300" b="1" dirty="0">
                <a:solidFill>
                  <a:srgbClr val="75D7CA"/>
                </a:solidFill>
                <a:latin typeface="Aptos" pitchFamily="34" charset="0"/>
                <a:ea typeface="Aptos" pitchFamily="34" charset="-122"/>
                <a:cs typeface="Aptos" pitchFamily="34" charset="-120"/>
              </a:rPr>
              <a:t>FUTURE</a:t>
            </a:r>
            <a:endParaRPr lang="en-US" sz="1300" dirty="0"/>
          </a:p>
          <a:p>
            <a:pPr marL="0" indent="0">
              <a:buNone/>
            </a:pPr>
            <a:r>
              <a:rPr lang="en-US" sz="1300" b="1" dirty="0">
                <a:solidFill>
                  <a:srgbClr val="75D7CA"/>
                </a:solidFill>
                <a:latin typeface="Aptos" pitchFamily="34" charset="0"/>
                <a:ea typeface="Aptos" pitchFamily="34" charset="-122"/>
                <a:cs typeface="Aptos" pitchFamily="34" charset="-120"/>
              </a:rPr>
              <a:t>IMPROVEMENTS</a:t>
            </a:r>
            <a:endParaRPr lang="en-US" sz="1300" dirty="0"/>
          </a:p>
        </p:txBody>
      </p:sp>
      <p:sp>
        <p:nvSpPr>
          <p:cNvPr id="8" name="Text 6"/>
          <p:cNvSpPr/>
          <p:nvPr/>
        </p:nvSpPr>
        <p:spPr>
          <a:xfrm>
            <a:off x="8796528" y="2514600"/>
            <a:ext cx="1874520" cy="1508760"/>
          </a:xfrm>
          <a:prstGeom prst="rect">
            <a:avLst/>
          </a:prstGeom>
          <a:noFill/>
          <a:ln/>
        </p:spPr>
        <p:txBody>
          <a:bodyPr wrap="square" lIns="0" tIns="0" rIns="0" bIns="0" rtlCol="0" anchor="t">
            <a:normAutofit/>
          </a:bodyPr>
          <a:lstStyle/>
          <a:p>
            <a:pPr marL="0" indent="0">
              <a:buNone/>
            </a:pPr>
            <a:r>
              <a:rPr lang="en-US" sz="1400" dirty="0">
                <a:solidFill>
                  <a:srgbClr val="FFFFFF"/>
                </a:solidFill>
                <a:latin typeface="Aptos" pitchFamily="34" charset="0"/>
                <a:ea typeface="Aptos" pitchFamily="34" charset="-122"/>
                <a:cs typeface="Aptos" pitchFamily="34" charset="-120"/>
              </a:rPr>
              <a:t>Printable reports</a:t>
            </a:r>
            <a:endParaRPr lang="en-US" sz="1400" dirty="0"/>
          </a:p>
          <a:p>
            <a:pPr marL="0" indent="0">
              <a:buNone/>
            </a:pPr>
            <a:r>
              <a:rPr lang="en-US" sz="1400" dirty="0">
                <a:solidFill>
                  <a:srgbClr val="FFFFFF"/>
                </a:solidFill>
                <a:latin typeface="Aptos" pitchFamily="34" charset="0"/>
                <a:ea typeface="Aptos" pitchFamily="34" charset="-122"/>
                <a:cs typeface="Aptos" pitchFamily="34" charset="-120"/>
              </a:rPr>
              <a:t>Data export and backup</a:t>
            </a:r>
            <a:endParaRPr lang="en-US" sz="1400" dirty="0"/>
          </a:p>
          <a:p>
            <a:pPr marL="0" indent="0">
              <a:buNone/>
            </a:pPr>
            <a:r>
              <a:rPr lang="en-US" sz="1400" dirty="0">
                <a:solidFill>
                  <a:srgbClr val="FFFFFF"/>
                </a:solidFill>
                <a:latin typeface="Aptos" pitchFamily="34" charset="0"/>
                <a:ea typeface="Aptos" pitchFamily="34" charset="-122"/>
                <a:cs typeface="Aptos" pitchFamily="34" charset="-120"/>
              </a:rPr>
              <a:t>Additional user roles</a:t>
            </a:r>
            <a:endParaRPr lang="en-US" sz="1400" dirty="0"/>
          </a:p>
          <a:p>
            <a:pPr marL="0" indent="0">
              <a:buNone/>
            </a:pPr>
            <a:r>
              <a:rPr lang="en-US" sz="1400" dirty="0">
                <a:solidFill>
                  <a:srgbClr val="FFFFFF"/>
                </a:solidFill>
                <a:latin typeface="Aptos" pitchFamily="34" charset="0"/>
                <a:ea typeface="Aptos" pitchFamily="34" charset="-122"/>
                <a:cs typeface="Aptos" pitchFamily="34" charset="-120"/>
              </a:rPr>
              <a:t>Student or teacher portals</a:t>
            </a:r>
            <a:endParaRPr lang="en-US" sz="1400" dirty="0"/>
          </a:p>
        </p:txBody>
      </p:sp>
      <p:sp>
        <p:nvSpPr>
          <p:cNvPr id="9" name="Text 7"/>
          <p:cNvSpPr/>
          <p:nvPr/>
        </p:nvSpPr>
        <p:spPr>
          <a:xfrm>
            <a:off x="777240" y="5257800"/>
            <a:ext cx="3840480" cy="45720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ptos" pitchFamily="34" charset="0"/>
                <a:ea typeface="Aptos" pitchFamily="34" charset="-122"/>
                <a:cs typeface="Aptos" pitchFamily="34" charset="-120"/>
              </a:rPr>
              <a:t>THANK YOU</a:t>
            </a:r>
            <a:endParaRPr lang="en-US" sz="2600" dirty="0"/>
          </a:p>
        </p:txBody>
      </p:sp>
      <p:sp>
        <p:nvSpPr>
          <p:cNvPr id="10" name="Text 8"/>
          <p:cNvSpPr/>
          <p:nvPr/>
        </p:nvSpPr>
        <p:spPr>
          <a:xfrm>
            <a:off x="795528" y="5806440"/>
            <a:ext cx="2468880" cy="256032"/>
          </a:xfrm>
          <a:prstGeom prst="rect">
            <a:avLst/>
          </a:prstGeom>
          <a:noFill/>
          <a:ln/>
        </p:spPr>
        <p:txBody>
          <a:bodyPr wrap="square" lIns="0" tIns="0" rIns="0" bIns="0" rtlCol="0" anchor="ctr">
            <a:normAutofit/>
          </a:bodyPr>
          <a:lstStyle/>
          <a:p>
            <a:pPr marL="0" indent="0">
              <a:buNone/>
            </a:pPr>
            <a:r>
              <a:rPr lang="en-US" sz="1400" dirty="0">
                <a:solidFill>
                  <a:srgbClr val="B1C6D0"/>
                </a:solidFill>
                <a:latin typeface="Aptos" pitchFamily="34" charset="0"/>
                <a:ea typeface="Aptos" pitchFamily="34" charset="-122"/>
                <a:cs typeface="Aptos" pitchFamily="34" charset="-120"/>
              </a:rPr>
              <a:t>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1076</Words>
  <Application>Microsoft Office PowerPoint</Application>
  <PresentationFormat>Widescreen</PresentationFormat>
  <Paragraphs>155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Project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Enrollment and Grading Management System</dc:title>
  <dc:subject>System overview and demonstration</dc:subject>
  <dc:creator>School Enrollment and Grading Management System project team</dc:creator>
  <cp:lastModifiedBy>SCHOOL PROJECT</cp:lastModifiedBy>
  <cp:revision>2</cp:revision>
  <dcterms:created xsi:type="dcterms:W3CDTF">2026-09-28T04:11:26Z</dcterms:created>
  <dcterms:modified xsi:type="dcterms:W3CDTF">2026-09-28T04:48:56Z</dcterms:modified>
</cp:coreProperties>
</file>